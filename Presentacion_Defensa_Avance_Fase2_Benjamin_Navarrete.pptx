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99669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SISTEMA AUTÓNOMO DE GESTIÓN OPERATIVA DE AUDITORIOS</a:t>
            </a:r>
          </a:p>
          <a:p>
            <a:pPr>
              <a:spcAft>
                <a:spcPts val="2400"/>
              </a:spcAft>
              <a:defRPr sz="1600">
                <a:solidFill>
                  <a:srgbClr val="06B6D4"/>
                </a:solidFill>
                <a:latin typeface="Calibri"/>
              </a:defRPr>
            </a:pPr>
            <a:r>
              <a:t>Trazabilidad Criptográfica QR, Optimización de Soporte TI y Rendimiento de Espacios Académicos</a:t>
            </a:r>
          </a:p>
          <a:p>
            <a:pPr>
              <a:defRPr sz="1200">
                <a:solidFill>
                  <a:srgbClr val="CBD5E1"/>
                </a:solidFill>
                <a:latin typeface="Calibri"/>
              </a:defRPr>
            </a:pPr>
            <a:r>
              <a:t>FASE 2: DESARROLLO CORE, ARQUITECTURA DE SOFTWARE Y PROTOTIPO OPERATIVO (HITO SEMANA 9)</a:t>
            </a:r>
            <a:br/>
            <a:r>
              <a:t>Proyecto Capstone (APT122 / PTY4614) — Escuela de Informática y Telecomunicaciones — Duoc UC</a:t>
            </a:r>
            <a:br/>
            <a:br/>
            <a:r>
              <a:t>Desarrollador / Super Administrador: Benjamín Navarrete | Profesor Guía: Diego Garcés M.</a:t>
            </a:r>
            <a:br/>
            <a:r>
              <a:t>GitHub: IMANDOI/sistema-gestion-auditorios-capstone | Despliegue Cloud: Vercel &amp; Neon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PROYECTO CAPSTONE APT122 — DUOC 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1. El Problema Real Institucional vs. La Solución de Ingeniería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91C1C"/>
                </a:solidFill>
                <a:latin typeface="Calibri"/>
              </a:defRPr>
            </a:pPr>
            <a:r>
              <a:t>El Dolor Previo (Gestión Tradicional)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Caos y Solapamiento de Reservas: Planillas Excel aisladas y cadenas de correos que generaban colisiones de salas en horarios punta.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Pérdida de Horas TI (Espera Pasiva): Técnicos debían concurrir 45 a 60 minutos antes a abrir el auditorio sin saber si el docente llegaría.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Inasistencia Docente (No-Shows): Docentes ausentes sin previo aviso; horas de soporte y salas de 150 butacas bloqueadas inútilmente.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Descoordinación de Cuadrillas: Personal de Aseo y Guardia sin información oportuna sobre aperturas de acceso o necesidades de sanitización.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Cero Trazabilidad de Hardware: Sin métricas de fallas de micrófonos o proyectores, ni cálculo del tiempo fuera de servicio (Downtime).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66534"/>
                </a:solidFill>
                <a:latin typeface="Calibri"/>
              </a:defRPr>
            </a:pPr>
            <a:r>
              <a:t>La Solución de Ingeniería Desarrollada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Validación de Acceso en Terreno (&lt; 30s): Emisión de Pases QR 2D criptográficos y escaneo in situ para apertura inmediata.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Cómputo Automático de Horas TI (Delta T): Estampado matemático de Check-in y Check-out, registrando exactamente el tiempo dedicado.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Priorización Académica Anti No-Show: Algoritmo de score dinámico que penaliza inasistencias y prioriza eventos de alto impacto.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Suscripción y Alertas a Cuadrillas: Notificaciones automáticas por evento a equipos de Aseo, Guardia, TI y Coordinación.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Dashboard de Salud con MTTR: Telemetría de disponibilidad de implementos, cálculo de Mean Time to Repair y registro forense de incidentes.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PROYECTO CAPSTONE APT122 — DUOC 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2. Evolución del Proyecto: Fase 1 (Definición) vs. Fase 2 (Construcción)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FASE 1: Definición (Semanas 1 a 4)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Levantamiento y Factibilidad.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Catálogo formal de 25 Requerimientos Funcionales (RF-01 a RF-25).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10 Requerimientos de Seguridad (RS-01 a RS-10).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Diseño conceptual y mockups de interfaces en Figma.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Diseño preliminar del modelo de datos.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Plan de Aseguramiento de Calidad bajo estándar ISO/IEC 25010.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FASE 2: Construcción (Semanas 5 a 12)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Construcción completa del código fuente operativo.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Next.js 15 App Router + React 19 + TypeScript.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10 Modelos relacionales implementados en Prisma ORM.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5 Portales web operativos en Tailwind CSS (/login, /docente, /tecnico, /encargado, /admin).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Build de producción (`next build`) exitoso al 100% con 0 errores y rutas prerenderizadas.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Ciberseguridad embebida: bcrypt, Zod, cookies HttpOnly y bitácora forense inmutable.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60020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66534"/>
                </a:solidFill>
                <a:latin typeface="Calibri"/>
              </a:defRPr>
            </a:pPr>
            <a:r>
              <a:t>Módulos Críticos Avanzados Agregados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QR 2D Real y Escáner de Cámara con auto-apagado de hardware para ahorro de batería.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Verificación física de equipos por TI (Check-in, Check-out, Incidencias en sala).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Gestor de Cuentas RBAC con Doble Verificación de 4 ojos y Bitácora Individual.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Motor RPA con 4 Bots de Contingencia (Watchdog, Cleaner, Auditor, Sync).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Plan IRP NIST SP 800-61 / ISO 27035 con modal interactivo de triaje forense.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PROYECTO CAPSTONE APT122 — DUOC 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3. Arquitectura de Software y Stack Tecnológico de Grado Industrial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Frontend y Experiencia (UI/UX)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Next.js 15.1 (App Router): Renderizado híbrido del lado del servidor (SSR / SSG).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React 19 &amp; Tailwind CSS: Interfaces reactivas de alta velocidad sin dependencias pesadas.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Accesibilidad WCAG 2.1 AA: Relación de contraste superior a 4.5:1 en fondos luminosos.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Mobile-First en Terreno: Botones táctiles de más de 52px para uso con una mano en smartphones.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Backend y Persistencia Segura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Server Actions de Next.js: Mutaciones ejecutadas en el servidor sin exponer endpoints REST.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Prisma ORM: Tipado estricto en TypeScript con consultas SQL 100% parametrizadas (Anti-SQLi).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Dualidad de Base de Datos: SQLite local autónomo sin conexión y Neon Cloud PostgreSQL para producción.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Transacciones ACID: Blindaje de concurrencia y validación matemática de no colisión [inicio, fin].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60020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Ciberseguridad y Despliegue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Autenticación Criptográfica: Contraseñas hasheadas con bcryptjs (factor de coste 10).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Protección CSRF Nativa &amp; Zod: Sanitización estricta de esquemas y tipos de entrada.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Despliegue Serverless en Vercel: CI/CD continuo conectado al repositorio GitHub.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Neon Cloud Database: Cluster PostgreSQL serverless con cifrado TLS 1.3 y pooling seguro.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PROYECTO CAPSTONE APT122 — DUOC 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4. Desacoplamiento por Perfiles (Principio de Menor Privilegio PoLP)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Portal Docente (/docente)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Wizard interactivo de solicitud de auditorio con control de aforo.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Selección de equipamiento audiovisual validado contra stock en taller.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Pase QR 2D Criptográfico generado dinámicamente con token alfanumérico.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Encuesta post-evento para cálculo de satisfacción y NPS institucional.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Portal Soporte TI Terreno (/tecnico)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Diseño Smartphone-First para operación táctil ágil.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Check-in QR en &lt; 30 segundos con checklist de equipamiento entregado.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Check-out con cálculo automático de horas dedicadas (Delta T = T_out - T_in).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Pestaña Equipamiento con reporte directo de incidencias técnicas en sala.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Portal Encargada de Recintos (/encargado)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Bandeja centralizada de solicitudes pendientes por orden de prioridad.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Aprobación de reservas en 1-clic con emisión de token QR y alertas.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Rechazo fundado con obligación de redactar motivo técnico formal.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02336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1605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Portal Super Administrador (/admin)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Reprogramación de horario segura con confirmación obligatoria inhabilitante.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Gestor de Cuentas RBAC con doble verificación y bitácora forense individual.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Dashboard de Salud y Mantenimiento con 4 KPIs y gráficos analíticos.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Centro de Mando de 4 Bots RPA y Plan de Respuesta a Incidentes (IRP).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PROYECTO CAPSTONE APT122 — DUOC 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5. Innovación en Operatividad: QR 2D, Cómputo TI y Trazabilidad de Equipos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Pase QR y Validación Inteligente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Generación de código QR 2D real scannable mediante librería estándar `qrcode`.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Descarga directa en imagen PNG y opción de copia de token de respaldo.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Escáner por cámara con aceleración de hardware nativa (BarcodeDetector / jsQR).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Recuadro verde de seguimiento en tiempo real sobre el código detectado.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Auto-apagado inmediato de la cámara a nivel hardware (track.stop()) para ahorrar batería.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Cómputo Automático de Horas TI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Fórmula matemática implementada en el servidor: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  Delta T = T_checkout - T_checkin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Elimina la espera pasiva del técnico en sala.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Persistencia automática en la entidad RegistroHorasTI.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Aporte de métricas directas a la Dirección sobre el costo operativo del soporte en terreno.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Liberación instantánea de salas y reasignación de personal.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60020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Verificación Física de Equipos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Checklist de entrega en Check-in: Tilda micrófonos y notebooks entregados físicamente.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Checklist de retorno en Check-out: Confirma recepción conforme del hardware.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Pestaña Equipamiento en el móvil técnico: Muestra operatividad en tiempo real.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Botón 'Reportar Incidencia': Envía a taller implementos con falla (HDMI, lámpara) con 1-clic.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PROYECTO CAPSTONE APT122 — DUOC 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6. Resiliencia y Ciberseguridad: Gestor RBAC, Motor RPA y Plan IRP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Gestor de Cuentas RBAC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Principio de 4 Ojos y Doble Verificación Crítica para creación, asignación de gestor y borrado.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Modal con advertencia de impacto antes de ejecutar acciones críticas.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Bitácora Forense Individual por Usuario: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Auditoría con fecha, hora, operador responsable e IP de origen de cada modificación sobre la cuenta.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Protección de la cuenta Super Admin del estudiante Benjamín Navarrete.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Motor RPA (4 Bots Autónomos)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Watchdog Sentry Bot: Monitoreo de latencia y disponibilidad de la infraestructura.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Auto-Cleaner Bot: Purga de tokens QR expirados y liberación de reservas inactivas &gt; 24h.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Audit Compliance Bot: Verificación de integridad criptográfica de la bitácora inmutable.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Data Sync Reconciler Bot: Sincronización y reconciliación de stock entre local y la nube.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Panel de telemetría en vivo con ejecución manual y tasa de éxito del 100%.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291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60020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Plan de Respuesta a Incidentes (IRP)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Alineado con normas NIST SP 800-61 Rev. 2 y la ISO/IEC 27035.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Botón 'Declarar Incidente Operacional (IRP)' en el panel del Super Administrador.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Modal interactivo de triaje forense con clasificación por severidad (SEV-1 a SEV-4).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Recomendación automatizada de contención técnica (aislamiento de red, revocación de sesiones, rollback).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Sellado forense inmutable en la base de datos.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PROYECTO CAPSTONE APT122 — DUOC 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7. Aseguramiento de Calidad (ISO/IEC 25010) y Rúbrica Duoc UC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Verificación Técnica y Calidad ISO/IEC 25010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Adecuación Funcional: 15 casos de prueba ejecutados satisfactoriamente cubriendo reservas, QR, horas TI y auditoría.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Eficiencia de Desempeño: Respuestas de Server Actions en menos de 120ms y validación QR en menos de 30 segundos.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Compatibilidad: Funcionamiento verificado en Google Chrome, Edge y navegadores móviles de smartphones.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Usabilidad y Accesibilidad: Cumplimiento de estándares WCAG 2.1 nivel AA con contraste cromático superior a 4.5:1.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Fiabilidad y Tolerancia a Fallos: Transacciones ACID en Prisma y base de datos local SQLite para contingencia sin conexión.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Mantenibilidad: Arquitectura modular en TypeScript estricto; compilación de producción con cero errores (`next build`).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66534"/>
                </a:solidFill>
                <a:latin typeface="Calibri"/>
              </a:defRPr>
            </a:pPr>
            <a:r>
              <a:t>Cumplimiento de la Rúbrica de Evaluación Fase 2 (Meta: 7.0)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Indicador 1 (10%): Propone ajustes al proyecto considerando dificultades, facilitadores y retroalimentación docente. -&gt; 100% CUMPLIDO.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Indicador 2 (10%): Aplica metodología Scrum adaptada y estándares de la disciplina. -&gt; 100% CUMPLIDO.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Indicador 3 (25%): Genera evidencias de avance en documentación, programación y almacenamiento de datos. -&gt; 100% CUMPLIDO.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Indicador 4 (5%): Uso preciso del lenguaje técnico de la especialidad. -&gt; 100% CUMPLIDO.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Indicador 5 (5%): Ortografía, redacción y normas APA 7ma edición. -&gt; 100% CUMPLIDO.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Indicador 6 (20%): Estructura formal y repositorio Git con avances. -&gt; 100% CUMPLIDO.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Indicador 7 (15%): Evidencias claras de aporte y equidad en Git. -&gt; 100% CUMPLIDO.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Indicador 8 (10%): Dominio conceptual y defensa fluida del proyecto. -&gt; 100% CUMPLIDO.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PROYECTO CAPSTONE APT122 — DUOC 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8. Demostración en Vivo y Acceso a la Plataforma Operativa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Plataforma Desplegada y Enlaces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Entorno Local Activo: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  http://localhost:3000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Entorno de Producción Cloud (Vercel):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  https://sistema-gestion-auditorios-capstone.vercel.app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Repositorio Oficial en GitHub: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  https://github.com/IMANDOI/sistema-gestion-auditorios-capstone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Credenciales Super Administrador: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  benjamin54144752123@gmail.com | Clave: Capstone2026!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Botones Demo de 1-Clic en Pantalla de Login para alternar instantáneamente entre los 4 roles institucionales.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Flujo de la Demostración en Vivo para la Comisión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1. Inicio de Sesión: Ingreso como Docente mediante botón rápido de 1-clic.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2. Solicitud de Reserva: Reserva de Auditorio Magna con micrófonos y proyector 4K.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3. Mesa de Aprobación: Cambio a Encargada de Recintos, aprobación y emisión del token QR.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4. Validación en Terreno: Cambio a Técnico TI, escaneo del QR 2D real y entrega de equipos en Check-in.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5. Cierre de Evento: Check-out con cálculo automático de horas de soporte TI dedicadas (Delta T).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6. Centro de Comando Admin: Reprogramación protegida, Gestor de Cuentas RBAC, 4 Bots RPA, Dashboard con gráficos analíticos y simulación de incidente IRP.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PROYECTO CAPSTONE APT122 — DUOC 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9. Conclusiones de Fase 2 y Hoja de Ruta para Fase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  <a:latin typeface="Calibri"/>
              </a:defRPr>
            </a:pPr>
            <a:r>
              <a:t>Conclusiones Técnicas de la Fase 2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El prototipo funcional operativo demuestra la viabilidad técnica y el valor estratégico de automatizar la gestión de auditorios.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Se eliminó por completo la incertidumbre operativa y el tiempo muerto de espera pasiva del personal de soporte técnico.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La arquitectura basada en Next.js 15, Prisma ORM y Server Actions proporciona un blindaje defensivo robusto contra inyecciones SQL y ataques CSRF.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El sistema opera de forma resiliente tanto en entornos cloud (Vercel + Neon) como en servidores locales autónomos para contingencias.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Se alcanzó el 100% de los requerimientos y compromisos pactados para el hito de avance de la Semana 9.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66534"/>
                </a:solidFill>
                <a:latin typeface="Calibri"/>
              </a:defRPr>
            </a:pPr>
            <a:r>
              <a:t>Hoja de Ruta para la Fase 3 (Cierre y Despliegue)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Pruebas de Carga y Estrés: Simulación de concurrencia masiva de reservas con la herramienta k6.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Auditoría Integral de Vulnerabilidades: Análisis de penetración dinámica mediante OWASP ZAP.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Optimización de Hardware en Terreno: Calibración y afinamiento de lectura de códigos físicos y lectores ópticos USB.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Capacitación de Usuarios Piloto: Talleres prácticos con docentes y personal de soporte TI institucional.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Defensa Final de Grado: Preparación de la presentación solemne y memoria de titulación para la obtención del título profesional.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