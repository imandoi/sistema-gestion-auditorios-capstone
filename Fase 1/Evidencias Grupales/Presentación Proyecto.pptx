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188475"/>
            <a:ext cx="20088393" cy="4711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188475"/>
            <a:ext cx="20088393" cy="4711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5706" y="109944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80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3832343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F21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0268" y="4609807"/>
            <a:ext cx="1272212" cy="3219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90575" y="4609807"/>
            <a:ext cx="1020911" cy="32197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706" y="4507716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70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12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2322" y="951276"/>
            <a:ext cx="10708251" cy="55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png"/><Relationship Id="rId8" Type="http://schemas.openxmlformats.org/officeDocument/2006/relationships/image" Target="../media/image13.jpg"/><Relationship Id="rId9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image" Target="../media/image16.png"/><Relationship Id="rId12" Type="http://schemas.openxmlformats.org/officeDocument/2006/relationships/image" Target="../media/image1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9.jp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png"/><Relationship Id="rId5" Type="http://schemas.openxmlformats.org/officeDocument/2006/relationships/image" Target="../media/image35.jpg"/><Relationship Id="rId6" Type="http://schemas.openxmlformats.org/officeDocument/2006/relationships/image" Target="../media/image3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071" y="3667816"/>
            <a:ext cx="9564370" cy="148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750"/>
              </a:lnSpc>
              <a:spcBef>
                <a:spcPts val="100"/>
              </a:spcBef>
            </a:pPr>
            <a:r>
              <a:rPr dirty="0" sz="5150" spc="-145">
                <a:solidFill>
                  <a:srgbClr val="FFFFFF"/>
                </a:solidFill>
                <a:latin typeface="Arial MT"/>
                <a:cs typeface="Arial MT"/>
              </a:rPr>
              <a:t>Sistema</a:t>
            </a:r>
            <a:r>
              <a:rPr dirty="0" sz="5150" spc="-2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>
                <a:solidFill>
                  <a:srgbClr val="FFFFFF"/>
                </a:solidFill>
                <a:latin typeface="Arial MT"/>
                <a:cs typeface="Arial MT"/>
              </a:rPr>
              <a:t>Autónomo</a:t>
            </a:r>
            <a:r>
              <a:rPr dirty="0" sz="515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 spc="8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5150" spc="-6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 spc="35">
                <a:solidFill>
                  <a:srgbClr val="429CF9"/>
                </a:solidFill>
                <a:latin typeface="Arial MT"/>
                <a:cs typeface="Arial MT"/>
              </a:rPr>
              <a:t>6</a:t>
            </a:r>
            <a:endParaRPr sz="5150">
              <a:latin typeface="Arial MT"/>
              <a:cs typeface="Arial MT"/>
            </a:endParaRPr>
          </a:p>
          <a:p>
            <a:pPr marL="2869565">
              <a:lnSpc>
                <a:spcPts val="5750"/>
              </a:lnSpc>
            </a:pPr>
            <a:r>
              <a:rPr dirty="0" sz="515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5150" spc="-5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 spc="-125">
                <a:solidFill>
                  <a:srgbClr val="FFFFFF"/>
                </a:solidFill>
                <a:latin typeface="Arial MT"/>
                <a:cs typeface="Arial MT"/>
              </a:rPr>
              <a:t>Trazabilidad</a:t>
            </a:r>
            <a:r>
              <a:rPr dirty="0" sz="5150" spc="-25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 spc="10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5150" spc="-5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150" spc="-80">
                <a:solidFill>
                  <a:srgbClr val="FFFFFF"/>
                </a:solidFill>
                <a:latin typeface="Arial MT"/>
                <a:cs typeface="Arial MT"/>
              </a:rPr>
              <a:t>Analítica</a:t>
            </a:r>
            <a:endParaRPr sz="5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3350" spc="-140"/>
              <a:t>De</a:t>
            </a:r>
            <a:r>
              <a:rPr dirty="0" sz="3350" spc="-415"/>
              <a:t> </a:t>
            </a:r>
            <a:r>
              <a:rPr dirty="0" sz="3350" spc="-60"/>
              <a:t>la</a:t>
            </a:r>
            <a:r>
              <a:rPr dirty="0" sz="3350" spc="-375"/>
              <a:t> </a:t>
            </a:r>
            <a:r>
              <a:rPr dirty="0" sz="3350" spc="-20"/>
              <a:t>Ineficiencia</a:t>
            </a:r>
            <a:r>
              <a:rPr dirty="0" sz="3350" spc="-75"/>
              <a:t> </a:t>
            </a:r>
            <a:r>
              <a:rPr dirty="0" sz="3350" spc="-80"/>
              <a:t>Manual</a:t>
            </a:r>
            <a:r>
              <a:rPr dirty="0" sz="3350" spc="-165"/>
              <a:t> </a:t>
            </a:r>
            <a:r>
              <a:rPr dirty="0" sz="3350" spc="-175"/>
              <a:t>a</a:t>
            </a:r>
            <a:r>
              <a:rPr dirty="0" sz="3350" spc="-280"/>
              <a:t> </a:t>
            </a:r>
            <a:r>
              <a:rPr dirty="0" sz="3350" spc="-60"/>
              <a:t>la</a:t>
            </a:r>
            <a:r>
              <a:rPr dirty="0" sz="3350" spc="-170"/>
              <a:t> </a:t>
            </a:r>
            <a:r>
              <a:rPr dirty="0" sz="3350">
                <a:solidFill>
                  <a:srgbClr val="5EA1F7"/>
                </a:solidFill>
              </a:rPr>
              <a:t>Automatizaoión</a:t>
            </a:r>
            <a:r>
              <a:rPr dirty="0" sz="3350" spc="-330">
                <a:solidFill>
                  <a:srgbClr val="5EA1F7"/>
                </a:solidFill>
              </a:rPr>
              <a:t> </a:t>
            </a:r>
            <a:r>
              <a:rPr dirty="0" sz="3350" spc="-10">
                <a:solidFill>
                  <a:srgbClr val="758CFB"/>
                </a:solidFill>
              </a:rPr>
              <a:t>Operaoienal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5706" y="3345447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15456" y="3284974"/>
            <a:ext cx="307213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5">
                <a:solidFill>
                  <a:srgbClr val="FFFFFF"/>
                </a:solidFill>
                <a:latin typeface="Arial MT"/>
                <a:cs typeface="Arial MT"/>
              </a:rPr>
              <a:t>Espera</a:t>
            </a:r>
            <a:r>
              <a:rPr dirty="0" sz="16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FFFFFF"/>
                </a:solidFill>
                <a:latin typeface="Arial MT"/>
                <a:cs typeface="Arial MT"/>
              </a:rPr>
              <a:t>Pasiva</a:t>
            </a:r>
            <a:r>
              <a:rPr dirty="0" sz="16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30">
                <a:solidFill>
                  <a:srgbClr val="FFFFFF"/>
                </a:solidFill>
                <a:latin typeface="Arial MT"/>
                <a:cs typeface="Arial MT"/>
              </a:rPr>
              <a:t>TI</a:t>
            </a:r>
            <a:r>
              <a:rPr dirty="0" sz="16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(hasta</a:t>
            </a:r>
            <a:r>
              <a:rPr dirty="0" sz="165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40">
                <a:solidFill>
                  <a:srgbClr val="FFFFFF"/>
                </a:solidFill>
                <a:latin typeface="Arial MT"/>
                <a:cs typeface="Arial MT"/>
              </a:rPr>
              <a:t>1h</a:t>
            </a:r>
            <a:r>
              <a:rPr dirty="0" sz="16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dirty="0" sz="16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sitio)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1938" y="3301334"/>
            <a:ext cx="23469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45">
                <a:solidFill>
                  <a:srgbClr val="807060"/>
                </a:solidFill>
                <a:latin typeface="Arial MT"/>
                <a:cs typeface="Arial MT"/>
              </a:rPr>
              <a:t>QR</a:t>
            </a:r>
            <a:r>
              <a:rPr dirty="0" sz="1550" spc="-120">
                <a:solidFill>
                  <a:srgbClr val="807060"/>
                </a:solidFill>
                <a:latin typeface="Arial MT"/>
                <a:cs typeface="Arial MT"/>
              </a:rPr>
              <a:t> </a:t>
            </a:r>
            <a:r>
              <a:rPr dirty="0" sz="1550" spc="120">
                <a:solidFill>
                  <a:srgbClr val="FFFFFF"/>
                </a:solidFill>
                <a:latin typeface="Arial MT"/>
                <a:cs typeface="Arial MT"/>
              </a:rPr>
              <a:t>Check-</a:t>
            </a:r>
            <a:r>
              <a:rPr dirty="0" sz="15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5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90">
                <a:solidFill>
                  <a:srgbClr val="FFFFFF"/>
                </a:solidFill>
                <a:latin typeface="Arial MT"/>
                <a:cs typeface="Arial MT"/>
              </a:rPr>
              <a:t>&lt;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30s</a:t>
            </a:r>
            <a:r>
              <a:rPr dirty="0" sz="15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85">
                <a:solidFill>
                  <a:srgbClr val="FFFFFF"/>
                </a:solidFill>
                <a:latin typeface="Arial MT"/>
                <a:cs typeface="Arial MT"/>
              </a:rPr>
              <a:t>Nóvil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06" y="4350653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F21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73772" y="4290179"/>
            <a:ext cx="412369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0525" algn="l"/>
              </a:tabLst>
            </a:pPr>
            <a:r>
              <a:rPr dirty="0" sz="1650" spc="-50">
                <a:solidFill>
                  <a:srgbClr val="F48085"/>
                </a:solidFill>
                <a:latin typeface="Arial MT"/>
                <a:cs typeface="Arial MT"/>
              </a:rPr>
              <a:t>Ą</a:t>
            </a:r>
            <a:r>
              <a:rPr dirty="0" sz="1650">
                <a:solidFill>
                  <a:srgbClr val="F48085"/>
                </a:solidFill>
                <a:latin typeface="Arial MT"/>
                <a:cs typeface="Arial MT"/>
              </a:rPr>
              <a:t>	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Sin</a:t>
            </a:r>
            <a:r>
              <a:rPr dirty="0" sz="1650" spc="-2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Registro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Horas</a:t>
            </a:r>
            <a:r>
              <a:rPr dirty="0" sz="16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Reales</a:t>
            </a:r>
            <a:r>
              <a:rPr dirty="0" sz="16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Soporte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28333" y="4290179"/>
            <a:ext cx="33966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5765" algn="l"/>
              </a:tabLst>
            </a:pPr>
            <a:r>
              <a:rPr dirty="0" sz="1650" spc="-50">
                <a:solidFill>
                  <a:srgbClr val="36D39E"/>
                </a:solidFill>
                <a:latin typeface="Arial MT"/>
                <a:cs typeface="Arial MT"/>
              </a:rPr>
              <a:t>@</a:t>
            </a:r>
            <a:r>
              <a:rPr dirty="0" sz="1650">
                <a:solidFill>
                  <a:srgbClr val="36D39E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Cálculo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Arial MT"/>
                <a:cs typeface="Arial MT"/>
              </a:rPr>
              <a:t>Natemático</a:t>
            </a:r>
            <a:r>
              <a:rPr dirty="0" sz="16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Horas</a:t>
            </a:r>
            <a:r>
              <a:rPr dirty="0" sz="1650" spc="-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TI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706" y="5308738"/>
            <a:ext cx="20080605" cy="283210"/>
            <a:chOff x="15706" y="5308738"/>
            <a:chExt cx="20080605" cy="2832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3058" y="5473655"/>
              <a:ext cx="227741" cy="1177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058" y="5355857"/>
              <a:ext cx="219888" cy="1099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706" y="5308738"/>
              <a:ext cx="20080605" cy="274955"/>
            </a:xfrm>
            <a:custGeom>
              <a:avLst/>
              <a:gdLst/>
              <a:ahLst/>
              <a:cxnLst/>
              <a:rect l="l" t="t" r="r" b="b"/>
              <a:pathLst>
                <a:path w="20080605" h="274954">
                  <a:moveTo>
                    <a:pt x="20080541" y="274860"/>
                  </a:moveTo>
                  <a:lnTo>
                    <a:pt x="0" y="274860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74860"/>
                  </a:lnTo>
                  <a:close/>
                </a:path>
              </a:pathLst>
            </a:custGeom>
            <a:solidFill>
              <a:srgbClr val="0F23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415872" y="5295384"/>
            <a:ext cx="33407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Descoordinaciôn</a:t>
            </a:r>
            <a:r>
              <a:rPr dirty="0" sz="1650" spc="-2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Aseo</a:t>
            </a:r>
            <a:r>
              <a:rPr dirty="0" sz="16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65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Guardia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31238" y="5295384"/>
            <a:ext cx="3776979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5130" algn="l"/>
              </a:tabLst>
            </a:pPr>
            <a:r>
              <a:rPr dirty="0" sz="1650" spc="-50">
                <a:solidFill>
                  <a:srgbClr val="36D19A"/>
                </a:solidFill>
                <a:latin typeface="Arial MT"/>
                <a:cs typeface="Arial MT"/>
              </a:rPr>
              <a:t>Ø</a:t>
            </a:r>
            <a:r>
              <a:rPr dirty="0" sz="1650">
                <a:solidFill>
                  <a:srgbClr val="36D19A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Nailing</a:t>
            </a:r>
            <a:r>
              <a:rPr dirty="0" sz="16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por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Áreas</a:t>
            </a:r>
            <a:r>
              <a:rPr dirty="0" sz="16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(Aseo/Guardia/TI)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6376769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1124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3037" y="6316295"/>
            <a:ext cx="37820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155" algn="l"/>
              </a:tabLst>
            </a:pPr>
            <a:r>
              <a:rPr dirty="0" sz="1650" spc="-400">
                <a:solidFill>
                  <a:srgbClr val="ED7E85"/>
                </a:solidFill>
                <a:latin typeface="Arial MT"/>
                <a:cs typeface="Arial MT"/>
              </a:rPr>
              <a:t>ğ</a:t>
            </a:r>
            <a:r>
              <a:rPr dirty="0" sz="1650" spc="-250">
                <a:solidFill>
                  <a:srgbClr val="ED7E85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ED7E85"/>
                </a:solidFill>
                <a:latin typeface="Arial MT"/>
                <a:cs typeface="Arial MT"/>
              </a:rPr>
              <a:t>•</a:t>
            </a:r>
            <a:r>
              <a:rPr dirty="0" sz="1650">
                <a:solidFill>
                  <a:srgbClr val="ED7E85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No-Shows</a:t>
            </a:r>
            <a:r>
              <a:rPr dirty="0" sz="16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65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Cancelaciones</a:t>
            </a:r>
            <a:r>
              <a:rPr dirty="0" sz="16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Tardías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55372" y="6316295"/>
            <a:ext cx="34905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PriorityScore</a:t>
            </a:r>
            <a:r>
              <a:rPr dirty="0" sz="1650" spc="2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114">
                <a:solidFill>
                  <a:srgbClr val="FFFFFF"/>
                </a:solidFill>
                <a:latin typeface="Arial MT"/>
                <a:cs typeface="Arial MT"/>
              </a:rPr>
              <a:t>(-</a:t>
            </a:r>
            <a:r>
              <a:rPr dirty="0" sz="1650" spc="19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dirty="0" sz="16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Arial MT"/>
                <a:cs typeface="Arial MT"/>
              </a:rPr>
              <a:t>pts</a:t>
            </a:r>
            <a:r>
              <a:rPr dirty="0" sz="165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dirty="0" sz="16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No-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Show)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88475"/>
            <a:ext cx="20088860" cy="47625"/>
            <a:chOff x="15706" y="188475"/>
            <a:chExt cx="20088860" cy="47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068030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20"/>
              </a:spcBef>
            </a:pPr>
            <a:r>
              <a:rPr dirty="0" spc="114"/>
              <a:t>Objetivos</a:t>
            </a:r>
            <a:r>
              <a:rPr dirty="0" spc="-195"/>
              <a:t> </a:t>
            </a:r>
            <a:r>
              <a:rPr dirty="0" spc="55"/>
              <a:t>Estratégicos</a:t>
            </a:r>
            <a:r>
              <a:rPr dirty="0" spc="25"/>
              <a:t> </a:t>
            </a:r>
            <a:r>
              <a:rPr dirty="0" spc="95"/>
              <a:t>del</a:t>
            </a:r>
            <a:r>
              <a:rPr dirty="0" spc="-280"/>
              <a:t> </a:t>
            </a:r>
            <a:r>
              <a:rPr dirty="0" spc="-80">
                <a:solidFill>
                  <a:srgbClr val="57ACF2"/>
                </a:solidFill>
              </a:rPr>
              <a:t>MVP</a:t>
            </a:r>
            <a:r>
              <a:rPr dirty="0" spc="-200">
                <a:solidFill>
                  <a:srgbClr val="57ACF2"/>
                </a:solidFill>
              </a:rPr>
              <a:t> </a:t>
            </a:r>
            <a:r>
              <a:rPr dirty="0" spc="-10">
                <a:solidFill>
                  <a:srgbClr val="8793E4"/>
                </a:solidFill>
              </a:rPr>
              <a:t>Capstone</a:t>
            </a:r>
          </a:p>
        </p:txBody>
      </p:sp>
      <p:sp>
        <p:nvSpPr>
          <p:cNvPr id="7" name="object 7"/>
          <p:cNvSpPr/>
          <p:nvPr/>
        </p:nvSpPr>
        <p:spPr>
          <a:xfrm>
            <a:off x="15706" y="2214592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06" y="2481599"/>
            <a:ext cx="20080605" cy="133985"/>
          </a:xfrm>
          <a:custGeom>
            <a:avLst/>
            <a:gdLst/>
            <a:ahLst/>
            <a:cxnLst/>
            <a:rect l="l" t="t" r="r" b="b"/>
            <a:pathLst>
              <a:path w="20080605" h="133985">
                <a:moveTo>
                  <a:pt x="20080541" y="133503"/>
                </a:moveTo>
                <a:lnTo>
                  <a:pt x="0" y="13350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33503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41205" y="2136924"/>
            <a:ext cx="16673830" cy="511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550" spc="-35">
                <a:solidFill>
                  <a:srgbClr val="EFEFEF"/>
                </a:solidFill>
                <a:latin typeface="Arial MT"/>
                <a:cs typeface="Arial MT"/>
              </a:rPr>
              <a:t>Diseñar,</a:t>
            </a:r>
            <a:r>
              <a:rPr dirty="0" sz="1550" spc="-2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7F7F7"/>
                </a:solidFill>
                <a:latin typeface="Arial MT"/>
                <a:cs typeface="Arial MT"/>
              </a:rPr>
              <a:t>desarrolla</a:t>
            </a:r>
            <a:r>
              <a:rPr dirty="0" sz="1550" spc="-12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dirty="0" sz="1550" spc="-95">
                <a:solidFill>
                  <a:srgbClr val="EBEBEB"/>
                </a:solidFill>
                <a:latin typeface="Arial MT"/>
                <a:cs typeface="Arial MT"/>
              </a:rPr>
              <a:t>r</a:t>
            </a:r>
            <a:r>
              <a:rPr dirty="0" sz="1550" spc="-10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EBEBEB"/>
                </a:solidFill>
                <a:latin typeface="Arial MT"/>
                <a:cs typeface="Arial MT"/>
              </a:rPr>
              <a:t>e</a:t>
            </a:r>
            <a:r>
              <a:rPr dirty="0" sz="1550" spc="-11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Arial MT"/>
                <a:cs typeface="Arial MT"/>
              </a:rPr>
              <a:t>implementar</a:t>
            </a:r>
            <a:r>
              <a:rPr dirty="0" sz="1550" spc="5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dirty="0" sz="15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EDEDED"/>
                </a:solidFill>
                <a:latin typeface="Arial MT"/>
                <a:cs typeface="Arial MT"/>
              </a:rPr>
              <a:t>MVP</a:t>
            </a:r>
            <a:r>
              <a:rPr dirty="0" sz="1550" spc="-8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EDEDED"/>
                </a:solidFill>
                <a:latin typeface="Arial MT"/>
                <a:cs typeface="Arial MT"/>
              </a:rPr>
              <a:t>web</a:t>
            </a:r>
            <a:r>
              <a:rPr dirty="0" sz="1550" spc="-3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BEBEB"/>
                </a:solidFill>
                <a:latin typeface="Arial MT"/>
                <a:cs typeface="Arial MT"/>
              </a:rPr>
              <a:t>seguro,</a:t>
            </a:r>
            <a:r>
              <a:rPr dirty="0" sz="1550" spc="-1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6F6F6"/>
                </a:solidFill>
                <a:latin typeface="Arial MT"/>
                <a:cs typeface="Arial MT"/>
              </a:rPr>
              <a:t>integral,</a:t>
            </a:r>
            <a:r>
              <a:rPr dirty="0" sz="1550" spc="-7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autónomo</a:t>
            </a:r>
            <a:r>
              <a:rPr dirty="0" sz="15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D8D8D8"/>
                </a:solidFill>
                <a:latin typeface="Arial MT"/>
                <a:cs typeface="Arial MT"/>
              </a:rPr>
              <a:t>y</a:t>
            </a:r>
            <a:r>
              <a:rPr dirty="0" sz="1550" spc="-14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FFFFFF"/>
                </a:solidFill>
                <a:latin typeface="Arial MT"/>
                <a:cs typeface="Arial MT"/>
              </a:rPr>
              <a:t>escala</a:t>
            </a:r>
            <a:r>
              <a:rPr dirty="0" sz="15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0F0F0"/>
                </a:solidFill>
                <a:latin typeface="Arial MT"/>
                <a:cs typeface="Arial MT"/>
              </a:rPr>
              <a:t>ble</a:t>
            </a:r>
            <a:r>
              <a:rPr dirty="0" sz="1550" spc="-11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0F0F0"/>
                </a:solidFill>
                <a:latin typeface="Arial MT"/>
                <a:cs typeface="Arial MT"/>
              </a:rPr>
              <a:t>para</a:t>
            </a:r>
            <a:r>
              <a:rPr dirty="0" sz="1550" spc="15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550" spc="-60">
                <a:solidFill>
                  <a:srgbClr val="EBEBEB"/>
                </a:solidFill>
                <a:latin typeface="Arial MT"/>
                <a:cs typeface="Arial MT"/>
              </a:rPr>
              <a:t>la</a:t>
            </a:r>
            <a:r>
              <a:rPr dirty="0" sz="1550" spc="-3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gestión</a:t>
            </a:r>
            <a:r>
              <a:rPr dirty="0" sz="1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2F2F2"/>
                </a:solidFill>
                <a:latin typeface="Arial MT"/>
                <a:cs typeface="Arial MT"/>
              </a:rPr>
              <a:t>opera</a:t>
            </a:r>
            <a:r>
              <a:rPr dirty="0" sz="1550" spc="-254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F6F6F6"/>
                </a:solidFill>
                <a:latin typeface="Arial MT"/>
                <a:cs typeface="Arial MT"/>
              </a:rPr>
              <a:t>tiva,</a:t>
            </a:r>
            <a:r>
              <a:rPr dirty="0" sz="1550" spc="-6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validación</a:t>
            </a:r>
            <a:r>
              <a:rPr dirty="0" sz="15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75">
                <a:solidFill>
                  <a:srgbClr val="426277"/>
                </a:solidFill>
                <a:latin typeface="Arial MT"/>
                <a:cs typeface="Arial MT"/>
              </a:rPr>
              <a:t>QR</a:t>
            </a:r>
            <a:r>
              <a:rPr dirty="0" sz="1550" spc="-100">
                <a:solidFill>
                  <a:srgbClr val="426277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presencia</a:t>
            </a:r>
            <a:r>
              <a:rPr dirty="0" sz="15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80">
                <a:solidFill>
                  <a:srgbClr val="E6E6E6"/>
                </a:solidFill>
                <a:latin typeface="Arial MT"/>
                <a:cs typeface="Arial MT"/>
              </a:rPr>
              <a:t>I,</a:t>
            </a:r>
            <a:r>
              <a:rPr dirty="0" sz="1550" spc="-10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BEBEB"/>
                </a:solidFill>
                <a:latin typeface="Arial MT"/>
                <a:cs typeface="Arial MT"/>
              </a:rPr>
              <a:t>c</a:t>
            </a:r>
            <a:r>
              <a:rPr dirty="0" sz="1550">
                <a:solidFill>
                  <a:srgbClr val="F6F6F6"/>
                </a:solidFill>
                <a:latin typeface="Arial MT"/>
                <a:cs typeface="Arial MT"/>
              </a:rPr>
              <a:t>ómputo</a:t>
            </a:r>
            <a:r>
              <a:rPr dirty="0" sz="1550" spc="1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4F4F4"/>
                </a:solidFill>
                <a:latin typeface="Arial MT"/>
                <a:cs typeface="Arial MT"/>
              </a:rPr>
              <a:t>de</a:t>
            </a:r>
            <a:r>
              <a:rPr dirty="0" sz="1550" spc="-105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E6E6E6"/>
                </a:solidFill>
                <a:latin typeface="Arial MT"/>
                <a:cs typeface="Arial MT"/>
              </a:rPr>
              <a:t>horas</a:t>
            </a:r>
            <a:r>
              <a:rPr dirty="0" sz="1550" spc="2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DEDED"/>
                </a:solidFill>
                <a:latin typeface="Arial MT"/>
                <a:cs typeface="Arial MT"/>
              </a:rPr>
              <a:t>de</a:t>
            </a:r>
            <a:r>
              <a:rPr dirty="0" sz="1550" spc="-17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140">
                <a:solidFill>
                  <a:srgbClr val="DBDBDB"/>
                </a:solidFill>
                <a:latin typeface="Arial MT"/>
                <a:cs typeface="Arial MT"/>
              </a:rPr>
              <a:t>TI</a:t>
            </a:r>
            <a:r>
              <a:rPr dirty="0" sz="1550" spc="-7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E8E8E8"/>
                </a:solidFill>
                <a:latin typeface="Arial MT"/>
                <a:cs typeface="Arial MT"/>
              </a:rPr>
              <a:t>y</a:t>
            </a:r>
            <a:r>
              <a:rPr dirty="0" sz="1550" spc="-15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550" spc="-17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55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nalítica</a:t>
            </a:r>
            <a:r>
              <a:rPr dirty="0" sz="15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dirty="0" sz="1550" spc="-12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auditorio</a:t>
            </a:r>
            <a:r>
              <a:rPr dirty="0" sz="15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55">
                <a:solidFill>
                  <a:srgbClr val="EBEBEB"/>
                </a:solidFill>
                <a:latin typeface="Arial MT"/>
                <a:cs typeface="Arial MT"/>
              </a:rPr>
              <a:t>s</a:t>
            </a:r>
            <a:r>
              <a:rPr dirty="0" sz="1550" spc="-2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E9E9E9"/>
                </a:solidFill>
                <a:latin typeface="Arial MT"/>
                <a:cs typeface="Arial MT"/>
              </a:rPr>
              <a:t>bajo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45"/>
              </a:spcBef>
            </a:pPr>
            <a:r>
              <a:rPr dirty="0" sz="1400" spc="70">
                <a:solidFill>
                  <a:srgbClr val="EDEDED"/>
                </a:solidFill>
                <a:latin typeface="Arial MT"/>
                <a:cs typeface="Arial MT"/>
              </a:rPr>
              <a:t>estanda</a:t>
            </a:r>
            <a:r>
              <a:rPr dirty="0" sz="1400" spc="-22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FEFEF"/>
                </a:solidFill>
                <a:latin typeface="Arial MT"/>
                <a:cs typeface="Arial MT"/>
              </a:rPr>
              <a:t>res</a:t>
            </a:r>
            <a:r>
              <a:rPr dirty="0" sz="1400" spc="-1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2F2F2"/>
                </a:solidFill>
                <a:latin typeface="Arial MT"/>
                <a:cs typeface="Arial MT"/>
              </a:rPr>
              <a:t>de</a:t>
            </a:r>
            <a:r>
              <a:rPr dirty="0" sz="1400" spc="17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FEFEF"/>
                </a:solidFill>
                <a:latin typeface="Arial MT"/>
                <a:cs typeface="Arial MT"/>
              </a:rPr>
              <a:t>ind</a:t>
            </a:r>
            <a:r>
              <a:rPr dirty="0" sz="1400" spc="-3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30F21"/>
                </a:solidFill>
                <a:latin typeface="Arial MT"/>
                <a:cs typeface="Arial MT"/>
              </a:rPr>
              <a:t>u</a:t>
            </a:r>
            <a:r>
              <a:rPr dirty="0" sz="1400" spc="-10">
                <a:solidFill>
                  <a:srgbClr val="E4E4E4"/>
                </a:solidFill>
                <a:latin typeface="Arial MT"/>
                <a:cs typeface="Arial MT"/>
              </a:rPr>
              <a:t>s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tria.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706" y="6125467"/>
            <a:ext cx="20088860" cy="141605"/>
            <a:chOff x="15706" y="6125467"/>
            <a:chExt cx="20088860" cy="1416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1361" y="6203999"/>
              <a:ext cx="4209295" cy="628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79097" y="6172586"/>
              <a:ext cx="4209295" cy="942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0799" y="6125467"/>
              <a:ext cx="4209295" cy="141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6125467"/>
              <a:ext cx="20088393" cy="14135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5706" y="6486713"/>
            <a:ext cx="20088860" cy="141605"/>
            <a:chOff x="15706" y="6486713"/>
            <a:chExt cx="20088860" cy="14160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4596" y="6486713"/>
              <a:ext cx="4209295" cy="1099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2698" y="6486713"/>
              <a:ext cx="4209295" cy="1413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0799" y="6486713"/>
              <a:ext cx="4209295" cy="1413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6486713"/>
              <a:ext cx="20088393" cy="141356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5706" y="9675097"/>
            <a:ext cx="20080605" cy="416559"/>
            <a:chOff x="15706" y="9675097"/>
            <a:chExt cx="20080605" cy="416559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93781" y="9949958"/>
              <a:ext cx="636106" cy="11779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706" y="9675097"/>
              <a:ext cx="20080605" cy="416559"/>
            </a:xfrm>
            <a:custGeom>
              <a:avLst/>
              <a:gdLst/>
              <a:ahLst/>
              <a:cxnLst/>
              <a:rect l="l" t="t" r="r" b="b"/>
              <a:pathLst>
                <a:path w="20080605" h="416559">
                  <a:moveTo>
                    <a:pt x="20080541" y="416217"/>
                  </a:moveTo>
                  <a:lnTo>
                    <a:pt x="0" y="416217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16217"/>
                  </a:lnTo>
                  <a:close/>
                </a:path>
              </a:pathLst>
            </a:custGeom>
            <a:solidFill>
              <a:srgbClr val="1128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92778" y="9615278"/>
            <a:ext cx="14516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Requerimîento</a:t>
            </a:r>
            <a:r>
              <a:rPr dirty="0" sz="15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62634" y="9598918"/>
            <a:ext cx="104330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Calidad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30">
                <a:solidFill>
                  <a:srgbClr val="FFFFFF"/>
                </a:solidFill>
                <a:latin typeface="Arial MT"/>
                <a:cs typeface="Arial MT"/>
              </a:rPr>
              <a:t>CPA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81402" y="9819461"/>
            <a:ext cx="15081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Persistencîa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3FN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70510" y="9819461"/>
            <a:ext cx="13963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Lógica</a:t>
            </a:r>
            <a:r>
              <a:rPr dirty="0" sz="15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RBAC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8505" y="0"/>
            <a:ext cx="235594" cy="1256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706" y="0"/>
            <a:ext cx="20088860" cy="125730"/>
            <a:chOff x="15706" y="0"/>
            <a:chExt cx="20088860" cy="125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25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25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5706" y="1099442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59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3450">
                <a:latin typeface="Cambria"/>
                <a:cs typeface="Cambria"/>
              </a:rPr>
              <a:t>Marco</a:t>
            </a:r>
            <a:r>
              <a:rPr dirty="0" sz="3450" spc="-235">
                <a:latin typeface="Cambria"/>
                <a:cs typeface="Cambria"/>
              </a:rPr>
              <a:t> </a:t>
            </a:r>
            <a:r>
              <a:rPr dirty="0" sz="3450">
                <a:latin typeface="Cambria"/>
                <a:cs typeface="Cambria"/>
              </a:rPr>
              <a:t>Scrum</a:t>
            </a:r>
            <a:r>
              <a:rPr dirty="0" sz="3450" spc="-110">
                <a:latin typeface="Cambria"/>
                <a:cs typeface="Cambria"/>
              </a:rPr>
              <a:t> </a:t>
            </a:r>
            <a:r>
              <a:rPr dirty="0" sz="3450" spc="-50">
                <a:latin typeface="Cambria"/>
                <a:cs typeface="Cambria"/>
              </a:rPr>
              <a:t>y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2575837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02732" y="2516018"/>
            <a:ext cx="13614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dirty="0" sz="15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90060" y="2516018"/>
            <a:ext cx="12255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40">
                <a:solidFill>
                  <a:srgbClr val="FFFFFF"/>
                </a:solidFill>
                <a:latin typeface="Arial MT"/>
                <a:cs typeface="Arial MT"/>
              </a:rPr>
              <a:t>Scrum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Naster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4853255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0F21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99387" y="4793436"/>
            <a:ext cx="1732914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10">
                <a:solidFill>
                  <a:srgbClr val="FFFFFF"/>
                </a:solidFill>
                <a:latin typeface="Consolas"/>
                <a:cs typeface="Consolas"/>
              </a:rPr>
              <a:t>SoftvvareA‹chitect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91151" y="4777075"/>
            <a:ext cx="16846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95">
                <a:solidFill>
                  <a:srgbClr val="FFFFFF"/>
                </a:solidFill>
                <a:latin typeface="Arial MT"/>
                <a:cs typeface="Arial MT"/>
              </a:rPr>
              <a:t>Lead</a:t>
            </a:r>
            <a:r>
              <a:rPr dirty="0" sz="16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Fullstack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Arial MT"/>
                <a:cs typeface="Arial MT"/>
              </a:rPr>
              <a:t>Dev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5638571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F24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35498" y="5578752"/>
            <a:ext cx="23082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Sprint</a:t>
            </a:r>
            <a:r>
              <a:rPr dirty="0" sz="15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Planning</a:t>
            </a:r>
            <a:r>
              <a:rPr dirty="0" sz="15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Backlo</a:t>
            </a:r>
            <a:r>
              <a:rPr dirty="0" sz="1550" spc="-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6518126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1124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37022" y="6458307"/>
            <a:ext cx="24606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Desarrollo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Serverless</a:t>
            </a:r>
            <a:r>
              <a:rPr dirty="0" sz="15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FFFFFF"/>
                </a:solidFill>
                <a:latin typeface="Arial MT"/>
                <a:cs typeface="Arial MT"/>
              </a:rPr>
              <a:t>TDD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06" y="7130673"/>
            <a:ext cx="20080605" cy="180975"/>
          </a:xfrm>
          <a:custGeom>
            <a:avLst/>
            <a:gdLst/>
            <a:ahLst/>
            <a:cxnLst/>
            <a:rect l="l" t="t" r="r" b="b"/>
            <a:pathLst>
              <a:path w="20080605" h="180975">
                <a:moveTo>
                  <a:pt x="20080541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80622"/>
                </a:lnTo>
                <a:close/>
              </a:path>
            </a:pathLst>
          </a:custGeom>
          <a:solidFill>
            <a:srgbClr val="0F2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101774" y="7070853"/>
            <a:ext cx="13817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r>
              <a:rPr dirty="0" sz="15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FFFFFF"/>
                </a:solidFill>
                <a:latin typeface="Arial MT"/>
                <a:cs typeface="Arial MT"/>
              </a:rPr>
              <a:t>UI/UX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192353" y="7070853"/>
            <a:ext cx="16675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Backend</a:t>
            </a:r>
            <a:r>
              <a:rPr dirty="0" sz="15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FFFFFF"/>
                </a:solidFill>
                <a:latin typeface="Arial MT"/>
                <a:cs typeface="Arial MT"/>
              </a:rPr>
              <a:t>DB</a:t>
            </a:r>
            <a:r>
              <a:rPr dirty="0" sz="15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Dev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706" y="7397680"/>
            <a:ext cx="20080605" cy="180975"/>
          </a:xfrm>
          <a:custGeom>
            <a:avLst/>
            <a:gdLst/>
            <a:ahLst/>
            <a:cxnLst/>
            <a:rect l="l" t="t" r="r" b="b"/>
            <a:pathLst>
              <a:path w="20080605" h="180975">
                <a:moveTo>
                  <a:pt x="20080541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80622"/>
                </a:lnTo>
                <a:close/>
              </a:path>
            </a:pathLst>
          </a:custGeom>
          <a:solidFill>
            <a:srgbClr val="0F2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635498" y="7337861"/>
            <a:ext cx="198564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Sprint</a:t>
            </a:r>
            <a:r>
              <a:rPr dirty="0" sz="15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Review</a:t>
            </a:r>
            <a:r>
              <a:rPr dirty="0" sz="15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Demo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706" y="9408090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90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1128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101594" y="9348271"/>
            <a:ext cx="15036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QATest</a:t>
            </a:r>
            <a:r>
              <a:rPr dirty="0" sz="15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Engineer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91582" y="9348271"/>
            <a:ext cx="15652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DevOps</a:t>
            </a:r>
            <a:r>
              <a:rPr dirty="0" sz="1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Engineer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706" y="11182905"/>
            <a:ext cx="20088860" cy="62865"/>
            <a:chOff x="15706" y="11182905"/>
            <a:chExt cx="20088860" cy="6286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4155" y="11182905"/>
              <a:ext cx="109944" cy="6282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1182905"/>
              <a:ext cx="4177883" cy="6282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11182905"/>
              <a:ext cx="20088393" cy="62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8505" y="0"/>
            <a:ext cx="235594" cy="1256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706" y="0"/>
            <a:ext cx="20088860" cy="125730"/>
            <a:chOff x="15706" y="0"/>
            <a:chExt cx="20088860" cy="125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125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125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5706" y="1099442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59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latin typeface="Trebuchet MS"/>
                <a:cs typeface="Trebuchet MS"/>
              </a:rPr>
              <a:t>Cronograma</a:t>
            </a:r>
            <a:r>
              <a:rPr dirty="0" sz="3350" spc="15">
                <a:latin typeface="Trebuchet MS"/>
                <a:cs typeface="Trebuchet MS"/>
              </a:rPr>
              <a:t> </a:t>
            </a:r>
            <a:r>
              <a:rPr dirty="0" sz="3350" spc="-30">
                <a:latin typeface="Trebuchet MS"/>
                <a:cs typeface="Trebuchet MS"/>
              </a:rPr>
              <a:t>Gantt</a:t>
            </a:r>
            <a:r>
              <a:rPr dirty="0" sz="3350" spc="-190">
                <a:latin typeface="Trebuchet MS"/>
                <a:cs typeface="Trebuchet MS"/>
              </a:rPr>
              <a:t> </a:t>
            </a:r>
            <a:r>
              <a:rPr dirty="0" sz="3350" spc="60">
                <a:latin typeface="Trebuchet MS"/>
                <a:cs typeface="Trebuchet MS"/>
              </a:rPr>
              <a:t>de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4334946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F21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6372" y="4271201"/>
            <a:ext cx="172466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FFFFFF"/>
                </a:solidFill>
                <a:latin typeface="Consolas"/>
                <a:cs typeface="Consolas"/>
              </a:rPr>
              <a:t>18</a:t>
            </a:r>
            <a:r>
              <a:rPr dirty="0" sz="2300" spc="3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300" spc="45">
                <a:solidFill>
                  <a:srgbClr val="FFFFFF"/>
                </a:solidFill>
                <a:latin typeface="Consolas"/>
                <a:cs typeface="Consolas"/>
              </a:rPr>
              <a:t>Semanas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38848" y="4271201"/>
            <a:ext cx="207391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FFFFFF"/>
                </a:solidFill>
                <a:latin typeface="Consolas"/>
                <a:cs typeface="Consolas"/>
              </a:rPr>
              <a:t>12</a:t>
            </a:r>
            <a:r>
              <a:rPr dirty="0" sz="2300" spc="27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300" spc="55">
                <a:solidFill>
                  <a:srgbClr val="FFFFFF"/>
                </a:solidFill>
                <a:latin typeface="Consolas"/>
                <a:cs typeface="Consolas"/>
              </a:rPr>
              <a:t>Hrs</a:t>
            </a:r>
            <a:r>
              <a:rPr dirty="0" sz="2300" spc="229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300">
                <a:solidFill>
                  <a:srgbClr val="FFFFFF"/>
                </a:solidFill>
                <a:latin typeface="Consolas"/>
                <a:cs typeface="Consolas"/>
              </a:rPr>
              <a:t>/</a:t>
            </a:r>
            <a:r>
              <a:rPr dirty="0" sz="2300" spc="2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2300" spc="-25">
                <a:solidFill>
                  <a:srgbClr val="FFFFFF"/>
                </a:solidFill>
                <a:latin typeface="Consolas"/>
                <a:cs typeface="Consolas"/>
              </a:rPr>
              <a:t>Sem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4971" y="4254840"/>
            <a:ext cx="12090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2450" spc="5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200">
                <a:solidFill>
                  <a:srgbClr val="FFFFFF"/>
                </a:solidFill>
                <a:latin typeface="Arial MT"/>
                <a:cs typeface="Arial MT"/>
              </a:rPr>
              <a:t>Hitos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06" y="5528627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F23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53351" y="5484514"/>
            <a:ext cx="62763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45">
                <a:solidFill>
                  <a:srgbClr val="FFFFFF"/>
                </a:solidFill>
                <a:latin typeface="Arial MT"/>
                <a:cs typeface="Arial MT"/>
              </a:rPr>
              <a:t>Fase</a:t>
            </a:r>
            <a:r>
              <a:rPr dirty="0" sz="15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Arial MT"/>
                <a:cs typeface="Arial MT"/>
              </a:rPr>
              <a:t>1(Sem</a:t>
            </a:r>
            <a:r>
              <a:rPr dirty="0" sz="15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145">
                <a:solidFill>
                  <a:srgbClr val="FFFFFF"/>
                </a:solidFill>
                <a:latin typeface="Arial MT"/>
                <a:cs typeface="Arial MT"/>
              </a:rPr>
              <a:t>1-</a:t>
            </a:r>
            <a:r>
              <a:rPr dirty="0" sz="1550" spc="135">
                <a:solidFill>
                  <a:srgbClr val="FFFFFF"/>
                </a:solidFill>
                <a:latin typeface="Arial MT"/>
                <a:cs typeface="Arial MT"/>
              </a:rPr>
              <a:t>4)</a:t>
            </a:r>
            <a:r>
              <a:rPr dirty="0" sz="1550" spc="135">
                <a:solidFill>
                  <a:srgbClr val="5B646E"/>
                </a:solidFill>
                <a:latin typeface="Arial MT"/>
                <a:cs typeface="Arial MT"/>
              </a:rPr>
              <a:t>:</a:t>
            </a:r>
            <a:r>
              <a:rPr dirty="0" sz="1550" spc="-114">
                <a:solidFill>
                  <a:srgbClr val="5B646E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550" spc="-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finic</a:t>
            </a:r>
            <a:r>
              <a:rPr dirty="0" sz="155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ión,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30">
                <a:solidFill>
                  <a:srgbClr val="FFFFFF"/>
                </a:solidFill>
                <a:latin typeface="Arial MT"/>
                <a:cs typeface="Arial MT"/>
              </a:rPr>
              <a:t>SRS</a:t>
            </a:r>
            <a:r>
              <a:rPr dirty="0" sz="15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60">
                <a:solidFill>
                  <a:srgbClr val="FFFFFF"/>
                </a:solidFill>
                <a:latin typeface="Arial MT"/>
                <a:cs typeface="Arial MT"/>
              </a:rPr>
              <a:t>IEEE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114">
                <a:solidFill>
                  <a:srgbClr val="FFFFFF"/>
                </a:solidFill>
                <a:latin typeface="Arial MT"/>
                <a:cs typeface="Arial MT"/>
              </a:rPr>
              <a:t>830,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70">
                <a:solidFill>
                  <a:srgbClr val="FFFFFF"/>
                </a:solidFill>
                <a:latin typeface="Arial MT"/>
                <a:cs typeface="Arial MT"/>
              </a:rPr>
              <a:t>Arquitec</a:t>
            </a:r>
            <a:r>
              <a:rPr dirty="0" sz="155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Arial MT"/>
                <a:cs typeface="Arial MT"/>
              </a:rPr>
              <a:t>tura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5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Respaldo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706" y="6612363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112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53351" y="6568251"/>
            <a:ext cx="7493634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Fase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155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Arial MT"/>
                <a:cs typeface="Arial MT"/>
              </a:rPr>
              <a:t>(Sem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dirty="0" sz="155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550" spc="70">
                <a:solidFill>
                  <a:srgbClr val="FFFFFF"/>
                </a:solidFill>
                <a:latin typeface="Arial MT"/>
                <a:cs typeface="Arial MT"/>
              </a:rPr>
              <a:t>12)</a:t>
            </a:r>
            <a:r>
              <a:rPr dirty="0" sz="1550" spc="70">
                <a:solidFill>
                  <a:srgbClr val="9097AF"/>
                </a:solidFill>
                <a:latin typeface="Arial MT"/>
                <a:cs typeface="Arial MT"/>
              </a:rPr>
              <a:t>:</a:t>
            </a:r>
            <a:r>
              <a:rPr dirty="0" sz="1550" spc="-80">
                <a:solidFill>
                  <a:srgbClr val="9097AF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Arial MT"/>
                <a:cs typeface="Arial MT"/>
              </a:rPr>
              <a:t>Autentic</a:t>
            </a:r>
            <a:r>
              <a:rPr dirty="0" sz="15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ac</a:t>
            </a:r>
            <a:r>
              <a:rPr dirty="0" sz="1550" spc="-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ión</a:t>
            </a:r>
            <a:r>
              <a:rPr dirty="0" sz="1550" spc="-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RBAC,</a:t>
            </a:r>
            <a:r>
              <a:rPr dirty="0" sz="15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65">
                <a:solidFill>
                  <a:srgbClr val="FFFFFF"/>
                </a:solidFill>
                <a:latin typeface="Arial MT"/>
                <a:cs typeface="Arial MT"/>
              </a:rPr>
              <a:t>Ł'1otor</a:t>
            </a:r>
            <a:r>
              <a:rPr dirty="0" sz="15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5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Rese</a:t>
            </a:r>
            <a:r>
              <a:rPr dirty="0" sz="1550" spc="-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rvas,</a:t>
            </a:r>
            <a:r>
              <a:rPr dirty="0" sz="15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90">
                <a:solidFill>
                  <a:srgbClr val="FFFFFF"/>
                </a:solidFill>
                <a:latin typeface="Arial MT"/>
                <a:cs typeface="Arial MT"/>
              </a:rPr>
              <a:t>Lector</a:t>
            </a:r>
            <a:r>
              <a:rPr dirty="0" sz="15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5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EFD6"/>
                </a:solidFill>
                <a:latin typeface="Arial MT"/>
                <a:cs typeface="Arial MT"/>
              </a:rPr>
              <a:t>y</a:t>
            </a:r>
            <a:r>
              <a:rPr dirty="0" sz="1550" spc="-25">
                <a:solidFill>
                  <a:srgbClr val="FFEFD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Ł'1ailing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7696100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112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52009" y="7635626"/>
            <a:ext cx="73132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90">
                <a:solidFill>
                  <a:srgbClr val="FFFFFF"/>
                </a:solidFill>
                <a:latin typeface="Arial MT"/>
                <a:cs typeface="Arial MT"/>
              </a:rPr>
              <a:t>Fase</a:t>
            </a:r>
            <a:r>
              <a:rPr dirty="0" sz="16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16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(Sem</a:t>
            </a:r>
            <a:r>
              <a:rPr dirty="0" sz="165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2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dirty="0" sz="16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650" spc="65">
                <a:solidFill>
                  <a:srgbClr val="FFFFFF"/>
                </a:solidFill>
                <a:latin typeface="Arial MT"/>
                <a:cs typeface="Arial MT"/>
              </a:rPr>
              <a:t>18)</a:t>
            </a:r>
            <a:r>
              <a:rPr dirty="0" sz="1650" spc="65">
                <a:solidFill>
                  <a:srgbClr val="52596D"/>
                </a:solidFill>
                <a:latin typeface="Arial MT"/>
                <a:cs typeface="Arial MT"/>
              </a:rPr>
              <a:t>:</a:t>
            </a:r>
            <a:r>
              <a:rPr dirty="0" sz="1650" spc="-225">
                <a:solidFill>
                  <a:srgbClr val="52596D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r>
              <a:rPr dirty="0" sz="16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Analitico,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Bateria</a:t>
            </a:r>
            <a:r>
              <a:rPr dirty="0" sz="165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FFFFFF"/>
                </a:solidFill>
                <a:latin typeface="Arial MT"/>
                <a:cs typeface="Arial MT"/>
              </a:rPr>
              <a:t>ISO</a:t>
            </a:r>
            <a:r>
              <a:rPr dirty="0" sz="16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25010,</a:t>
            </a:r>
            <a:r>
              <a:rPr dirty="0" sz="165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Deploy</a:t>
            </a:r>
            <a:r>
              <a:rPr dirty="0" sz="16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6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Defensa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706" y="11182905"/>
            <a:ext cx="20088860" cy="62865"/>
            <a:chOff x="15706" y="11182905"/>
            <a:chExt cx="20088860" cy="6286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4155" y="11182905"/>
              <a:ext cx="109944" cy="628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11182905"/>
              <a:ext cx="4177883" cy="628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11182905"/>
              <a:ext cx="20088393" cy="62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88475"/>
            <a:ext cx="20088860" cy="47625"/>
            <a:chOff x="15706" y="188475"/>
            <a:chExt cx="20088860" cy="47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068030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Stack</a:t>
            </a:r>
            <a:r>
              <a:rPr dirty="0" sz="3350" spc="-140"/>
              <a:t> </a:t>
            </a:r>
            <a:r>
              <a:rPr dirty="0" sz="3350" spc="-55"/>
              <a:t>Tecnológico</a:t>
            </a:r>
            <a:r>
              <a:rPr dirty="0" sz="3350" spc="-160"/>
              <a:t> </a:t>
            </a:r>
            <a:r>
              <a:rPr dirty="0" sz="3350" spc="90"/>
              <a:t>de</a:t>
            </a:r>
            <a:r>
              <a:rPr dirty="0" sz="3350" spc="-445"/>
              <a:t> </a:t>
            </a:r>
            <a:r>
              <a:rPr dirty="0" sz="3350" spc="-125">
                <a:solidFill>
                  <a:srgbClr val="59ACF6"/>
                </a:solidFill>
              </a:rPr>
              <a:t>Gracie</a:t>
            </a:r>
            <a:r>
              <a:rPr dirty="0" sz="3350" spc="-275">
                <a:solidFill>
                  <a:srgbClr val="59ACF6"/>
                </a:solidFill>
              </a:rPr>
              <a:t> </a:t>
            </a:r>
            <a:r>
              <a:rPr dirty="0" sz="3350" spc="-10">
                <a:solidFill>
                  <a:srgbClr val="7989F9"/>
                </a:solidFill>
              </a:rPr>
              <a:t>Industrial</a:t>
            </a:r>
            <a:endParaRPr sz="3350"/>
          </a:p>
        </p:txBody>
      </p:sp>
      <p:sp>
        <p:nvSpPr>
          <p:cNvPr id="7" name="object 7"/>
          <p:cNvSpPr/>
          <p:nvPr/>
        </p:nvSpPr>
        <p:spPr>
          <a:xfrm>
            <a:off x="15706" y="2214592"/>
            <a:ext cx="20080605" cy="180975"/>
          </a:xfrm>
          <a:custGeom>
            <a:avLst/>
            <a:gdLst/>
            <a:ahLst/>
            <a:cxnLst/>
            <a:rect l="l" t="t" r="r" b="b"/>
            <a:pathLst>
              <a:path w="20080605" h="180975">
                <a:moveTo>
                  <a:pt x="20080541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80622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61296" y="2137758"/>
            <a:ext cx="15728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dirty="0" sz="1800" spc="229">
                <a:solidFill>
                  <a:srgbClr val="49BCDF"/>
                </a:solidFill>
                <a:latin typeface="Arial MT"/>
                <a:cs typeface="Arial MT"/>
              </a:rPr>
              <a:t>!</a:t>
            </a:r>
            <a:r>
              <a:rPr dirty="0" sz="1800" spc="229">
                <a:solidFill>
                  <a:srgbClr val="003B6E"/>
                </a:solidFill>
                <a:latin typeface="Arial MT"/>
                <a:cs typeface="Arial MT"/>
              </a:rPr>
              <a:t>”</a:t>
            </a:r>
            <a:r>
              <a:rPr dirty="0" sz="1800" spc="229">
                <a:solidFill>
                  <a:srgbClr val="56AFEB"/>
                </a:solidFill>
                <a:latin typeface="Arial MT"/>
                <a:cs typeface="Arial MT"/>
              </a:rPr>
              <a:t>!</a:t>
            </a:r>
            <a:r>
              <a:rPr dirty="0" sz="1800">
                <a:solidFill>
                  <a:srgbClr val="56AFEB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Front</a:t>
            </a:r>
            <a:r>
              <a:rPr dirty="0" sz="1800" spc="-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6456" y="2137758"/>
            <a:ext cx="15208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7695" algn="l"/>
              </a:tabLst>
            </a:pPr>
            <a:r>
              <a:rPr dirty="0" sz="1800" spc="-25">
                <a:solidFill>
                  <a:srgbClr val="808CF0"/>
                </a:solidFill>
                <a:latin typeface="Arial MT"/>
                <a:cs typeface="Arial MT"/>
              </a:rPr>
              <a:t>*'u</a:t>
            </a:r>
            <a:r>
              <a:rPr dirty="0" sz="1800">
                <a:solidFill>
                  <a:srgbClr val="808CF0"/>
                </a:solidFill>
                <a:latin typeface="Arial MT"/>
                <a:cs typeface="Arial MT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Backend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80794" y="2137758"/>
            <a:ext cx="20364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960" algn="l"/>
              </a:tabLst>
            </a:pPr>
            <a:r>
              <a:rPr dirty="0" sz="1800" spc="-50">
                <a:solidFill>
                  <a:srgbClr val="4BC697"/>
                </a:solidFill>
                <a:latin typeface="Arial MT"/>
                <a:cs typeface="Arial MT"/>
              </a:rPr>
              <a:t>a</a:t>
            </a:r>
            <a:r>
              <a:rPr dirty="0" sz="1800">
                <a:solidFill>
                  <a:srgbClr val="4BC697"/>
                </a:solidFill>
                <a:latin typeface="Arial MT"/>
                <a:cs typeface="Arial MT"/>
              </a:rPr>
              <a:t>	</a:t>
            </a:r>
            <a:r>
              <a:rPr dirty="0" sz="1800" spc="-55">
                <a:solidFill>
                  <a:srgbClr val="FFFFFF"/>
                </a:solidFill>
                <a:latin typeface="Arial MT"/>
                <a:cs typeface="Arial MT"/>
              </a:rPr>
              <a:t>Base</a:t>
            </a:r>
            <a:r>
              <a:rPr dirty="0" sz="180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800" spc="-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7721" y="2137758"/>
            <a:ext cx="2175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870" algn="l"/>
              </a:tabLst>
            </a:pPr>
            <a:r>
              <a:rPr dirty="0" sz="1800" spc="-295">
                <a:solidFill>
                  <a:srgbClr val="FF778E"/>
                </a:solidFill>
                <a:latin typeface="Arial MT"/>
                <a:cs typeface="Arial MT"/>
              </a:rPr>
              <a:t>áŁB</a:t>
            </a:r>
            <a:r>
              <a:rPr dirty="0" sz="1800">
                <a:solidFill>
                  <a:srgbClr val="FF778E"/>
                </a:solidFill>
                <a:latin typeface="Arial MT"/>
                <a:cs typeface="Arial MT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lnfraestructura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88475"/>
            <a:ext cx="20088860" cy="47625"/>
            <a:chOff x="15706" y="188475"/>
            <a:chExt cx="20088860" cy="47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099442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59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20"/>
              </a:spcBef>
            </a:pPr>
            <a:r>
              <a:rPr dirty="0"/>
              <a:t>Seguridad</a:t>
            </a:r>
            <a:r>
              <a:rPr dirty="0" spc="-165"/>
              <a:t> </a:t>
            </a:r>
            <a:r>
              <a:rPr dirty="0"/>
              <a:t>Defensiva</a:t>
            </a:r>
            <a:r>
              <a:rPr dirty="0" spc="60"/>
              <a:t> </a:t>
            </a:r>
            <a:r>
              <a:rPr dirty="0" spc="-125">
                <a:solidFill>
                  <a:srgbClr val="56ACFF"/>
                </a:solidFill>
              </a:rPr>
              <a:t>Ø\/\/ASP</a:t>
            </a:r>
            <a:r>
              <a:rPr dirty="0" spc="180">
                <a:solidFill>
                  <a:srgbClr val="56ACFF"/>
                </a:solidFill>
              </a:rPr>
              <a:t> </a:t>
            </a:r>
            <a:r>
              <a:rPr dirty="0" spc="-70">
                <a:solidFill>
                  <a:srgbClr val="5D95E4"/>
                </a:solidFill>
              </a:rPr>
              <a:t>&amp;</a:t>
            </a:r>
            <a:r>
              <a:rPr dirty="0" spc="-165">
                <a:solidFill>
                  <a:srgbClr val="5D95E4"/>
                </a:solidFill>
              </a:rPr>
              <a:t> </a:t>
            </a:r>
            <a:r>
              <a:rPr dirty="0" spc="-85">
                <a:solidFill>
                  <a:srgbClr val="67A1F2"/>
                </a:solidFill>
              </a:rPr>
              <a:t>ISØ</a:t>
            </a:r>
            <a:r>
              <a:rPr dirty="0" spc="-130">
                <a:solidFill>
                  <a:srgbClr val="67A1F2"/>
                </a:solidFill>
              </a:rPr>
              <a:t> </a:t>
            </a:r>
            <a:r>
              <a:rPr dirty="0" spc="-10">
                <a:solidFill>
                  <a:srgbClr val="8393D6"/>
                </a:solidFill>
              </a:rPr>
              <a:t>27001</a:t>
            </a:r>
          </a:p>
        </p:txBody>
      </p:sp>
      <p:sp>
        <p:nvSpPr>
          <p:cNvPr id="7" name="object 7"/>
          <p:cNvSpPr/>
          <p:nvPr/>
        </p:nvSpPr>
        <p:spPr>
          <a:xfrm>
            <a:off x="15706" y="2010410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80976" y="1949936"/>
            <a:ext cx="198056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65">
                <a:solidFill>
                  <a:srgbClr val="3BBCF6"/>
                </a:solidFill>
                <a:latin typeface="Arial MT"/>
                <a:cs typeface="Arial MT"/>
              </a:rPr>
              <a:t>@</a:t>
            </a:r>
            <a:r>
              <a:rPr dirty="0" sz="1650" spc="90">
                <a:solidFill>
                  <a:srgbClr val="3BBCF6"/>
                </a:solidFill>
                <a:latin typeface="Arial MT"/>
                <a:cs typeface="Arial MT"/>
              </a:rPr>
              <a:t>  </a:t>
            </a:r>
            <a:r>
              <a:rPr dirty="0" sz="1650" spc="-105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FFFFFF"/>
                </a:solidFill>
                <a:latin typeface="Arial MT"/>
                <a:cs typeface="Arial MT"/>
              </a:rPr>
              <a:t>Hashing</a:t>
            </a:r>
            <a:r>
              <a:rPr dirty="0" sz="16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55">
                <a:solidFill>
                  <a:srgbClr val="FFFFFF"/>
                </a:solidFill>
                <a:latin typeface="Arial MT"/>
                <a:cs typeface="Arial MT"/>
              </a:rPr>
              <a:t>bcrypt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9948" y="1949936"/>
            <a:ext cx="224917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180">
                <a:solidFill>
                  <a:srgbClr val="4BB3F6"/>
                </a:solidFill>
                <a:latin typeface="Arial MT"/>
                <a:cs typeface="Arial MT"/>
              </a:rPr>
              <a:t>@</a:t>
            </a:r>
            <a:r>
              <a:rPr dirty="0" sz="1650" spc="70">
                <a:solidFill>
                  <a:srgbClr val="4BB3F6"/>
                </a:solidFill>
                <a:latin typeface="Arial MT"/>
                <a:cs typeface="Arial MT"/>
              </a:rPr>
              <a:t>  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dirty="0" sz="16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Sesiones</a:t>
            </a:r>
            <a:r>
              <a:rPr dirty="0" sz="16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Seguras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90179" y="1933575"/>
            <a:ext cx="30746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3CDFF"/>
                </a:solidFill>
                <a:latin typeface="Arial MT"/>
                <a:cs typeface="Arial MT"/>
              </a:rPr>
              <a:t>@</a:t>
            </a:r>
            <a:r>
              <a:rPr dirty="0" sz="1800" spc="25">
                <a:solidFill>
                  <a:srgbClr val="23CDFF"/>
                </a:solidFill>
                <a:latin typeface="Arial MT"/>
                <a:cs typeface="Arial MT"/>
              </a:rPr>
              <a:t> 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r>
              <a:rPr dirty="0" sz="18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Arial MT"/>
                <a:cs typeface="Arial MT"/>
              </a:rPr>
              <a:t>Consultas</a:t>
            </a:r>
            <a:r>
              <a:rPr dirty="0" sz="18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 MT"/>
                <a:cs typeface="Arial MT"/>
              </a:rPr>
              <a:t>Parametrizadas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6596657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1126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3156" y="6536183"/>
            <a:ext cx="281876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7985" algn="l"/>
              </a:tabLst>
            </a:pPr>
            <a:r>
              <a:rPr dirty="0" sz="1650" spc="-25">
                <a:solidFill>
                  <a:srgbClr val="34C1F2"/>
                </a:solidFill>
                <a:latin typeface="Arial MT"/>
                <a:cs typeface="Arial MT"/>
              </a:rPr>
              <a:t>'ÿ’</a:t>
            </a:r>
            <a:r>
              <a:rPr dirty="0" sz="1650">
                <a:solidFill>
                  <a:srgbClr val="34C1F2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4.</a:t>
            </a:r>
            <a:r>
              <a:rPr dirty="0" sz="165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Validaciôn</a:t>
            </a:r>
            <a:r>
              <a:rPr dirty="0" sz="16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Server-</a:t>
            </a:r>
            <a:r>
              <a:rPr dirty="0" sz="1650" spc="-20">
                <a:solidFill>
                  <a:srgbClr val="FFFFFF"/>
                </a:solidFill>
                <a:latin typeface="Arial MT"/>
                <a:cs typeface="Arial MT"/>
              </a:rPr>
              <a:t>Side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0836" y="6536183"/>
            <a:ext cx="24174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3055" indent="-300355">
              <a:lnSpc>
                <a:spcPct val="100000"/>
              </a:lnSpc>
              <a:spcBef>
                <a:spcPts val="125"/>
              </a:spcBef>
              <a:buClr>
                <a:srgbClr val="4DB8EF"/>
              </a:buClr>
              <a:buChar char="•"/>
              <a:tabLst>
                <a:tab pos="313055" algn="l"/>
              </a:tabLst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5.</a:t>
            </a:r>
            <a:r>
              <a:rPr dirty="0" sz="16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Arial MT"/>
                <a:cs typeface="Arial MT"/>
              </a:rPr>
              <a:t>Tokens</a:t>
            </a:r>
            <a:r>
              <a:rPr dirty="0" sz="16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85">
                <a:solidFill>
                  <a:srgbClr val="FFFFFF"/>
                </a:solidFill>
                <a:latin typeface="Arial MT"/>
                <a:cs typeface="Arial MT"/>
              </a:rPr>
              <a:t>QR</a:t>
            </a:r>
            <a:r>
              <a:rPr dirty="0" sz="1650" spc="-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Efímeros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92920" y="6552545"/>
            <a:ext cx="21526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420">
                <a:solidFill>
                  <a:srgbClr val="3BBCF6"/>
                </a:solidFill>
                <a:latin typeface="Arial MT"/>
                <a:cs typeface="Arial MT"/>
              </a:rPr>
              <a:t>fĘà</a:t>
            </a:r>
            <a:r>
              <a:rPr dirty="0" sz="1550" spc="395">
                <a:solidFill>
                  <a:srgbClr val="3BBCF6"/>
                </a:solidFill>
                <a:latin typeface="Arial MT"/>
                <a:cs typeface="Arial MT"/>
              </a:rPr>
              <a:t> 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ó.</a:t>
            </a:r>
            <a:r>
              <a:rPr dirty="0" sz="1550" spc="4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FFFFFF"/>
                </a:solidFill>
                <a:latin typeface="Arial MT"/>
                <a:cs typeface="Arial MT"/>
              </a:rPr>
              <a:t>Cabeceras</a:t>
            </a:r>
            <a:r>
              <a:rPr dirty="0" sz="155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FFFFFF"/>
                </a:solidFill>
                <a:latin typeface="Arial MT"/>
                <a:cs typeface="Arial MT"/>
              </a:rPr>
              <a:t>HTTP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88475"/>
            <a:ext cx="20088860" cy="47625"/>
            <a:chOff x="15706" y="188475"/>
            <a:chExt cx="20088860" cy="47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09944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80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0112" y="983997"/>
            <a:ext cx="6998970" cy="5162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100"/>
              <a:t>Modelo</a:t>
            </a:r>
            <a:r>
              <a:rPr dirty="0" spc="-175"/>
              <a:t> </a:t>
            </a:r>
            <a:r>
              <a:rPr dirty="0"/>
              <a:t>Relacional</a:t>
            </a:r>
            <a:r>
              <a:rPr dirty="0" spc="-10"/>
              <a:t> </a:t>
            </a:r>
            <a:r>
              <a:rPr dirty="0"/>
              <a:t>Normalizado</a:t>
            </a:r>
            <a:r>
              <a:rPr dirty="0" spc="285"/>
              <a:t> </a:t>
            </a:r>
            <a:r>
              <a:rPr dirty="0" spc="-25">
                <a:solidFill>
                  <a:srgbClr val="7B8EED"/>
                </a:solidFill>
              </a:rPr>
              <a:t>/SFN)</a:t>
            </a:r>
          </a:p>
        </p:txBody>
      </p:sp>
      <p:sp>
        <p:nvSpPr>
          <p:cNvPr id="7" name="object 7"/>
          <p:cNvSpPr/>
          <p:nvPr/>
        </p:nvSpPr>
        <p:spPr>
          <a:xfrm>
            <a:off x="15706" y="3094146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670854" y="3034327"/>
            <a:ext cx="247713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Trazabilidad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5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Rendimiento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188475"/>
            <a:ext cx="20088860" cy="47625"/>
            <a:chOff x="15706" y="188475"/>
            <a:chExt cx="20088860" cy="47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88475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1099442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70"/>
              <a:t>Interfaces</a:t>
            </a:r>
            <a:r>
              <a:rPr dirty="0" spc="-80"/>
              <a:t> </a:t>
            </a:r>
            <a:r>
              <a:rPr dirty="0" spc="155"/>
              <a:t>de</a:t>
            </a:r>
            <a:r>
              <a:rPr dirty="0" spc="-475"/>
              <a:t> </a:t>
            </a:r>
            <a:r>
              <a:rPr dirty="0"/>
              <a:t>Usuario</a:t>
            </a:r>
            <a:r>
              <a:rPr dirty="0" spc="-260"/>
              <a:t> </a:t>
            </a:r>
            <a:r>
              <a:rPr dirty="0"/>
              <a:t>y</a:t>
            </a:r>
            <a:r>
              <a:rPr dirty="0" spc="-45"/>
              <a:t> </a:t>
            </a:r>
            <a:r>
              <a:rPr dirty="0">
                <a:solidFill>
                  <a:srgbClr val="69AAF9"/>
                </a:solidFill>
              </a:rPr>
              <a:t>Øashbeard</a:t>
            </a:r>
            <a:r>
              <a:rPr dirty="0" spc="-40">
                <a:solidFill>
                  <a:srgbClr val="69AAF9"/>
                </a:solidFill>
              </a:rPr>
              <a:t> </a:t>
            </a:r>
            <a:r>
              <a:rPr dirty="0" spc="45">
                <a:solidFill>
                  <a:srgbClr val="7990EF"/>
                </a:solidFill>
              </a:rPr>
              <a:t>Arialitico</a:t>
            </a:r>
          </a:p>
        </p:txBody>
      </p:sp>
      <p:sp>
        <p:nvSpPr>
          <p:cNvPr id="7" name="object 7"/>
          <p:cNvSpPr/>
          <p:nvPr/>
        </p:nvSpPr>
        <p:spPr>
          <a:xfrm>
            <a:off x="15706" y="3047027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89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22176" y="3002260"/>
            <a:ext cx="250126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Formulario</a:t>
            </a:r>
            <a:r>
              <a:rPr dirty="0" sz="16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Solicitudes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83016" y="3002260"/>
            <a:ext cx="156591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Lector</a:t>
            </a:r>
            <a:r>
              <a:rPr dirty="0" sz="16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85">
                <a:solidFill>
                  <a:srgbClr val="FFFFFF"/>
                </a:solidFill>
                <a:latin typeface="Arial MT"/>
                <a:cs typeface="Arial MT"/>
              </a:rPr>
              <a:t>QR</a:t>
            </a:r>
            <a:r>
              <a:rPr dirty="0" sz="1650" spc="70">
                <a:solidFill>
                  <a:srgbClr val="FFFFFF"/>
                </a:solidFill>
                <a:latin typeface="Arial MT"/>
                <a:cs typeface="Arial MT"/>
              </a:rPr>
              <a:t> Nóvil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9007" y="3002260"/>
            <a:ext cx="20453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75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r>
              <a:rPr dirty="0" sz="16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Analítico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675372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0F1A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8895" y="631913"/>
            <a:ext cx="257619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193165" algn="l"/>
                <a:tab pos="1570990" algn="l"/>
              </a:tabLst>
            </a:pPr>
            <a:r>
              <a:rPr dirty="0" sz="1400">
                <a:solidFill>
                  <a:srgbClr val="36B5F4"/>
                </a:solidFill>
                <a:latin typeface="Arial MT"/>
                <a:cs typeface="Arial MT"/>
              </a:rPr>
              <a:t>W</a:t>
            </a:r>
            <a:r>
              <a:rPr dirty="0" sz="1400" spc="365">
                <a:solidFill>
                  <a:srgbClr val="36B5F4"/>
                </a:solidFill>
                <a:latin typeface="Arial MT"/>
                <a:cs typeface="Arial MT"/>
              </a:rPr>
              <a:t> </a:t>
            </a:r>
            <a:r>
              <a:rPr dirty="0" sz="1400" spc="-405">
                <a:solidFill>
                  <a:srgbClr val="13628A"/>
                </a:solidFill>
                <a:latin typeface="Arial MT"/>
                <a:cs typeface="Arial MT"/>
              </a:rPr>
              <a:t>C</a:t>
            </a:r>
            <a:r>
              <a:rPr dirty="0" sz="1400" spc="-15">
                <a:solidFill>
                  <a:srgbClr val="13628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4879"/>
                </a:solidFill>
                <a:latin typeface="Arial MT"/>
                <a:cs typeface="Arial MT"/>
              </a:rPr>
              <a:t>I</a:t>
            </a:r>
            <a:r>
              <a:rPr dirty="0" sz="1400" spc="305">
                <a:solidFill>
                  <a:srgbClr val="004879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002F56"/>
                </a:solidFill>
                <a:latin typeface="Arial MT"/>
                <a:cs typeface="Arial MT"/>
              </a:rPr>
              <a:t>E</a:t>
            </a:r>
            <a:r>
              <a:rPr dirty="0" sz="1400" spc="-20">
                <a:solidFill>
                  <a:srgbClr val="002F56"/>
                </a:solidFill>
                <a:latin typeface="Arial MT"/>
                <a:cs typeface="Arial MT"/>
              </a:rPr>
              <a:t> </a:t>
            </a:r>
            <a:r>
              <a:rPr dirty="0" sz="1400" spc="-335">
                <a:solidFill>
                  <a:srgbClr val="00315D"/>
                </a:solidFill>
                <a:latin typeface="Arial MT"/>
                <a:cs typeface="Arial MT"/>
              </a:rPr>
              <a:t>R</a:t>
            </a:r>
            <a:r>
              <a:rPr dirty="0" sz="1400" spc="-90">
                <a:solidFill>
                  <a:srgbClr val="00315D"/>
                </a:solidFill>
                <a:latin typeface="Arial MT"/>
                <a:cs typeface="Arial MT"/>
              </a:rPr>
              <a:t> </a:t>
            </a:r>
            <a:r>
              <a:rPr dirty="0" sz="1400" spc="-335">
                <a:solidFill>
                  <a:srgbClr val="00315D"/>
                </a:solidFill>
                <a:latin typeface="Arial MT"/>
                <a:cs typeface="Arial MT"/>
              </a:rPr>
              <a:t>R</a:t>
            </a:r>
            <a:r>
              <a:rPr dirty="0" sz="1400" spc="-90">
                <a:solidFill>
                  <a:srgbClr val="00315D"/>
                </a:solidFill>
                <a:latin typeface="Arial MT"/>
                <a:cs typeface="Arial MT"/>
              </a:rPr>
              <a:t> </a:t>
            </a:r>
            <a:r>
              <a:rPr dirty="0" sz="1400" spc="-315">
                <a:solidFill>
                  <a:srgbClr val="003B6B"/>
                </a:solidFill>
                <a:latin typeface="Arial MT"/>
                <a:cs typeface="Arial MT"/>
              </a:rPr>
              <a:t>E</a:t>
            </a:r>
            <a:r>
              <a:rPr dirty="0" sz="1400">
                <a:solidFill>
                  <a:srgbClr val="003B6B"/>
                </a:solidFill>
                <a:latin typeface="Arial MT"/>
                <a:cs typeface="Arial MT"/>
              </a:rPr>
              <a:t>	</a:t>
            </a:r>
            <a:r>
              <a:rPr dirty="0" sz="1400" spc="-140">
                <a:solidFill>
                  <a:srgbClr val="167E9C"/>
                </a:solidFill>
                <a:latin typeface="Arial MT"/>
                <a:cs typeface="Arial MT"/>
              </a:rPr>
              <a:t>0</a:t>
            </a:r>
            <a:r>
              <a:rPr dirty="0" sz="1400" spc="-35">
                <a:solidFill>
                  <a:srgbClr val="167E9C"/>
                </a:solidFill>
                <a:latin typeface="Arial MT"/>
                <a:cs typeface="Arial MT"/>
              </a:rPr>
              <a:t> </a:t>
            </a:r>
            <a:r>
              <a:rPr dirty="0" sz="1400" spc="-315">
                <a:solidFill>
                  <a:srgbClr val="002852"/>
                </a:solidFill>
                <a:latin typeface="Arial MT"/>
                <a:cs typeface="Arial MT"/>
              </a:rPr>
              <a:t>E</a:t>
            </a:r>
            <a:r>
              <a:rPr dirty="0" sz="1400">
                <a:solidFill>
                  <a:srgbClr val="002852"/>
                </a:solidFill>
                <a:latin typeface="Arial MT"/>
                <a:cs typeface="Arial MT"/>
              </a:rPr>
              <a:t>	</a:t>
            </a:r>
            <a:r>
              <a:rPr dirty="0" sz="1400" spc="-215">
                <a:solidFill>
                  <a:srgbClr val="1D6D7E"/>
                </a:solidFill>
                <a:latin typeface="Arial MT"/>
                <a:cs typeface="Arial MT"/>
              </a:rPr>
              <a:t>P</a:t>
            </a:r>
            <a:r>
              <a:rPr dirty="0" sz="1400" spc="-80">
                <a:solidFill>
                  <a:srgbClr val="1D6D7E"/>
                </a:solidFill>
                <a:latin typeface="Arial MT"/>
                <a:cs typeface="Arial MT"/>
              </a:rPr>
              <a:t> </a:t>
            </a:r>
            <a:r>
              <a:rPr dirty="0" sz="1400" spc="-335">
                <a:solidFill>
                  <a:srgbClr val="46B5DB"/>
                </a:solidFill>
                <a:latin typeface="Arial MT"/>
                <a:cs typeface="Arial MT"/>
              </a:rPr>
              <a:t>R</a:t>
            </a:r>
            <a:r>
              <a:rPr dirty="0" sz="1400" spc="-30">
                <a:solidFill>
                  <a:srgbClr val="46B5DB"/>
                </a:solidFill>
                <a:latin typeface="Arial MT"/>
                <a:cs typeface="Arial MT"/>
              </a:rPr>
              <a:t> </a:t>
            </a:r>
            <a:r>
              <a:rPr dirty="0" sz="1400" spc="-135">
                <a:solidFill>
                  <a:srgbClr val="005E87"/>
                </a:solidFill>
                <a:latin typeface="Arial MT"/>
                <a:cs typeface="Arial MT"/>
              </a:rPr>
              <a:t>0</a:t>
            </a:r>
            <a:r>
              <a:rPr dirty="0" sz="1400" spc="10">
                <a:solidFill>
                  <a:srgbClr val="005E87"/>
                </a:solidFill>
                <a:latin typeface="Arial MT"/>
                <a:cs typeface="Arial MT"/>
              </a:rPr>
              <a:t> </a:t>
            </a:r>
            <a:r>
              <a:rPr dirty="0" sz="1400" spc="-275">
                <a:solidFill>
                  <a:srgbClr val="67B1D1"/>
                </a:solidFill>
                <a:latin typeface="Arial MT"/>
                <a:cs typeface="Arial MT"/>
              </a:rPr>
              <a:t>Y</a:t>
            </a:r>
            <a:r>
              <a:rPr dirty="0" sz="1400" spc="-114">
                <a:solidFill>
                  <a:srgbClr val="67B1D1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003356"/>
                </a:solidFill>
                <a:latin typeface="Arial MT"/>
                <a:cs typeface="Arial MT"/>
              </a:rPr>
              <a:t>E</a:t>
            </a:r>
            <a:r>
              <a:rPr dirty="0" sz="1400" spc="-40">
                <a:solidFill>
                  <a:srgbClr val="003356"/>
                </a:solidFill>
                <a:latin typeface="Arial MT"/>
                <a:cs typeface="Arial MT"/>
              </a:rPr>
              <a:t> </a:t>
            </a:r>
            <a:r>
              <a:rPr dirty="0" sz="1400" spc="-405">
                <a:solidFill>
                  <a:srgbClr val="08627C"/>
                </a:solidFill>
                <a:latin typeface="Arial MT"/>
                <a:cs typeface="Arial MT"/>
              </a:rPr>
              <a:t>C</a:t>
            </a:r>
            <a:r>
              <a:rPr dirty="0" sz="1400" spc="25">
                <a:solidFill>
                  <a:srgbClr val="08627C"/>
                </a:solidFill>
                <a:latin typeface="Arial MT"/>
                <a:cs typeface="Arial MT"/>
              </a:rPr>
              <a:t> </a:t>
            </a:r>
            <a:r>
              <a:rPr dirty="0" sz="1400" spc="-145">
                <a:solidFill>
                  <a:srgbClr val="002D4F"/>
                </a:solidFill>
                <a:latin typeface="Arial MT"/>
                <a:cs typeface="Arial MT"/>
              </a:rPr>
              <a:t>T</a:t>
            </a:r>
            <a:r>
              <a:rPr dirty="0" sz="1400" spc="-80">
                <a:solidFill>
                  <a:srgbClr val="002D4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166D87"/>
                </a:solidFill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1068030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C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20"/>
              </a:spcBef>
            </a:pPr>
            <a:r>
              <a:rPr dirty="0"/>
              <a:t>Alcance</a:t>
            </a:r>
            <a:r>
              <a:rPr dirty="0" spc="-150"/>
              <a:t> </a:t>
            </a:r>
            <a:r>
              <a:rPr dirty="0" spc="95"/>
              <a:t>del</a:t>
            </a:r>
            <a:r>
              <a:rPr dirty="0" spc="-280"/>
              <a:t> </a:t>
            </a:r>
            <a:r>
              <a:rPr dirty="0" spc="-35"/>
              <a:t>MVP</a:t>
            </a:r>
            <a:r>
              <a:rPr dirty="0" spc="-220"/>
              <a:t> </a:t>
            </a:r>
            <a:r>
              <a:rPr dirty="0"/>
              <a:t>y </a:t>
            </a:r>
            <a:r>
              <a:rPr dirty="0">
                <a:solidFill>
                  <a:srgbClr val="70A5D4"/>
                </a:solidFill>
              </a:rPr>
              <a:t>Conclusiones</a:t>
            </a:r>
            <a:r>
              <a:rPr dirty="0" spc="10">
                <a:solidFill>
                  <a:srgbClr val="70A5D4"/>
                </a:solidFill>
              </a:rPr>
              <a:t> </a:t>
            </a:r>
            <a:r>
              <a:rPr dirty="0" spc="-10">
                <a:solidFill>
                  <a:srgbClr val="8995F7"/>
                </a:solidFill>
              </a:rPr>
              <a:t>Téenicas</a:t>
            </a:r>
          </a:p>
        </p:txBody>
      </p:sp>
      <p:sp>
        <p:nvSpPr>
          <p:cNvPr id="6" name="object 6"/>
          <p:cNvSpPr/>
          <p:nvPr/>
        </p:nvSpPr>
        <p:spPr>
          <a:xfrm>
            <a:off x="15706" y="1931878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16635" y="1871404"/>
            <a:ext cx="314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5">
                <a:solidFill>
                  <a:srgbClr val="4DB8D4"/>
                </a:solidFill>
                <a:latin typeface="Arial MT"/>
                <a:cs typeface="Arial MT"/>
              </a:rPr>
              <a:t>.</a:t>
            </a:r>
            <a:r>
              <a:rPr dirty="0" sz="1650" spc="-235">
                <a:solidFill>
                  <a:srgbClr val="4DB8D4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0879A1"/>
                </a:solidFill>
                <a:latin typeface="Arial MT"/>
                <a:cs typeface="Arial MT"/>
              </a:rPr>
              <a:t>)))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1728" y="1871404"/>
            <a:ext cx="8255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solidFill>
                  <a:srgbClr val="4FA1CF"/>
                </a:solidFill>
                <a:latin typeface="Arial MT"/>
                <a:cs typeface="Arial MT"/>
              </a:rPr>
              <a:t>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6535" y="1812701"/>
            <a:ext cx="6783070" cy="5810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 spc="-105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dirty="0" sz="16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Arial MT"/>
                <a:cs typeface="Arial MT"/>
              </a:rPr>
              <a:t>Erradicación</a:t>
            </a:r>
            <a:r>
              <a:rPr dirty="0" sz="16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Arial MT"/>
                <a:cs typeface="Arial MT"/>
              </a:rPr>
              <a:t>Cuellos</a:t>
            </a:r>
            <a:r>
              <a:rPr dirty="0" sz="16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Botella</a:t>
            </a:r>
            <a:endParaRPr sz="165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  <a:spcBef>
                <a:spcPts val="400"/>
              </a:spcBef>
            </a:pPr>
            <a:r>
              <a:rPr dirty="0" sz="1250" spc="-10">
                <a:solidFill>
                  <a:srgbClr val="D8D8D8"/>
                </a:solidFill>
                <a:latin typeface="Arial MT"/>
                <a:cs typeface="Arial MT"/>
              </a:rPr>
              <a:t>El</a:t>
            </a:r>
            <a:r>
              <a:rPr dirty="0" sz="1250" spc="-10">
                <a:solidFill>
                  <a:srgbClr val="DDDDDD"/>
                </a:solidFill>
                <a:latin typeface="Arial MT"/>
                <a:cs typeface="Arial MT"/>
              </a:rPr>
              <a:t>lm</a:t>
            </a:r>
            <a:r>
              <a:rPr dirty="0" sz="1250" spc="-10">
                <a:solidFill>
                  <a:srgbClr val="D4D4D4"/>
                </a:solidFill>
                <a:latin typeface="Arial MT"/>
                <a:cs typeface="Arial MT"/>
              </a:rPr>
              <a:t>Ina</a:t>
            </a:r>
            <a:r>
              <a:rPr dirty="0" sz="1250" spc="1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250" spc="-45">
                <a:solidFill>
                  <a:srgbClr val="DDDDDD"/>
                </a:solidFill>
                <a:latin typeface="Arial MT"/>
                <a:cs typeface="Arial MT"/>
              </a:rPr>
              <a:t>la</a:t>
            </a:r>
            <a:r>
              <a:rPr dirty="0" sz="1250" spc="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8D8D8"/>
                </a:solidFill>
                <a:latin typeface="Arial MT"/>
                <a:cs typeface="Arial MT"/>
              </a:rPr>
              <a:t>eso</a:t>
            </a:r>
            <a:r>
              <a:rPr dirty="0" sz="1250">
                <a:solidFill>
                  <a:srgbClr val="E2E2E2"/>
                </a:solidFill>
                <a:latin typeface="Arial MT"/>
                <a:cs typeface="Arial MT"/>
              </a:rPr>
              <a:t>era</a:t>
            </a:r>
            <a:r>
              <a:rPr dirty="0" sz="1250" spc="16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4E4E4"/>
                </a:solidFill>
                <a:latin typeface="Arial MT"/>
                <a:cs typeface="Arial MT"/>
              </a:rPr>
              <a:t>oaslva</a:t>
            </a:r>
            <a:r>
              <a:rPr dirty="0" sz="1250" spc="7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8C99A8"/>
                </a:solidFill>
                <a:latin typeface="Arial MT"/>
                <a:cs typeface="Arial MT"/>
              </a:rPr>
              <a:t>y</a:t>
            </a:r>
            <a:r>
              <a:rPr dirty="0" sz="1250" spc="40">
                <a:solidFill>
                  <a:srgbClr val="8C99A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3D3D3"/>
                </a:solidFill>
                <a:latin typeface="Arial MT"/>
                <a:cs typeface="Arial MT"/>
              </a:rPr>
              <a:t>ent</a:t>
            </a:r>
            <a:r>
              <a:rPr dirty="0" sz="1250" spc="-200">
                <a:solidFill>
                  <a:srgbClr val="D3D3D3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8D8D8"/>
                </a:solidFill>
                <a:latin typeface="Arial MT"/>
                <a:cs typeface="Arial MT"/>
              </a:rPr>
              <a:t>reg</a:t>
            </a:r>
            <a:r>
              <a:rPr dirty="0" sz="1250">
                <a:solidFill>
                  <a:srgbClr val="2D3D5D"/>
                </a:solidFill>
                <a:latin typeface="Arial MT"/>
                <a:cs typeface="Arial MT"/>
              </a:rPr>
              <a:t>a</a:t>
            </a:r>
            <a:r>
              <a:rPr dirty="0" sz="1250" spc="114">
                <a:solidFill>
                  <a:srgbClr val="2D3D5D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FDFDF"/>
                </a:solidFill>
                <a:latin typeface="Arial MT"/>
                <a:cs typeface="Arial MT"/>
              </a:rPr>
              <a:t>traza</a:t>
            </a:r>
            <a:r>
              <a:rPr dirty="0" sz="1250" spc="-15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 spc="45">
                <a:solidFill>
                  <a:srgbClr val="E2E2E2"/>
                </a:solidFill>
                <a:latin typeface="Arial MT"/>
                <a:cs typeface="Arial MT"/>
              </a:rPr>
              <a:t>bilidad</a:t>
            </a:r>
            <a:r>
              <a:rPr dirty="0" sz="1250" spc="-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4D4D4"/>
                </a:solidFill>
                <a:latin typeface="Arial MT"/>
                <a:cs typeface="Arial MT"/>
              </a:rPr>
              <a:t>del</a:t>
            </a:r>
            <a:r>
              <a:rPr dirty="0" sz="1250" spc="-15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BDBDB"/>
                </a:solidFill>
                <a:latin typeface="Arial MT"/>
                <a:cs typeface="Arial MT"/>
              </a:rPr>
              <a:t>10</a:t>
            </a:r>
            <a:r>
              <a:rPr dirty="0" sz="1250" spc="-17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BCCAE8"/>
                </a:solidFill>
                <a:latin typeface="Arial MT"/>
                <a:cs typeface="Arial MT"/>
              </a:rPr>
              <a:t>0%</a:t>
            </a:r>
            <a:r>
              <a:rPr dirty="0" sz="1250" spc="235">
                <a:solidFill>
                  <a:srgbClr val="BCCAE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6E6E6"/>
                </a:solidFill>
                <a:latin typeface="Arial MT"/>
                <a:cs typeface="Arial MT"/>
              </a:rPr>
              <a:t>de</a:t>
            </a:r>
            <a:r>
              <a:rPr dirty="0" sz="1250" spc="114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DDDDDD"/>
                </a:solidFill>
                <a:latin typeface="Arial MT"/>
                <a:cs typeface="Arial MT"/>
              </a:rPr>
              <a:t>las</a:t>
            </a:r>
            <a:r>
              <a:rPr dirty="0" sz="1250" spc="6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6D6D6"/>
                </a:solidFill>
                <a:latin typeface="Arial MT"/>
                <a:cs typeface="Arial MT"/>
              </a:rPr>
              <a:t>horas</a:t>
            </a:r>
            <a:r>
              <a:rPr dirty="0" sz="1250" spc="6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2E2E2"/>
                </a:solidFill>
                <a:latin typeface="Arial MT"/>
                <a:cs typeface="Arial MT"/>
              </a:rPr>
              <a:t>de</a:t>
            </a:r>
            <a:r>
              <a:rPr dirty="0" sz="1250" spc="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250" spc="90">
                <a:solidFill>
                  <a:srgbClr val="DBDBDB"/>
                </a:solidFill>
                <a:latin typeface="Arial MT"/>
                <a:cs typeface="Arial MT"/>
              </a:rPr>
              <a:t>sooorte</a:t>
            </a:r>
            <a:r>
              <a:rPr dirty="0" sz="1250" spc="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DFDFDF"/>
                </a:solidFill>
                <a:latin typeface="Arial MT"/>
                <a:cs typeface="Arial MT"/>
              </a:rPr>
              <a:t>t</a:t>
            </a:r>
            <a:r>
              <a:rPr dirty="0" sz="1250" spc="-10">
                <a:solidFill>
                  <a:srgbClr val="DDDDDD"/>
                </a:solidFill>
                <a:latin typeface="Arial MT"/>
                <a:cs typeface="Arial MT"/>
              </a:rPr>
              <a:t>Ócnlco.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706" y="2591544"/>
            <a:ext cx="20088860" cy="188595"/>
            <a:chOff x="15706" y="2591544"/>
            <a:chExt cx="20088860" cy="1885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0617" y="2591544"/>
              <a:ext cx="4209295" cy="1884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736" y="2591544"/>
              <a:ext cx="5465802" cy="1884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2591544"/>
              <a:ext cx="20088393" cy="188475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15706" y="2889964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09440" y="3034327"/>
            <a:ext cx="17767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5">
                <a:solidFill>
                  <a:srgbClr val="EBEBEB"/>
                </a:solidFill>
                <a:latin typeface="Arial MT"/>
                <a:cs typeface="Arial MT"/>
              </a:rPr>
              <a:t>Validar</a:t>
            </a:r>
            <a:r>
              <a:rPr dirty="0" sz="1550" spc="-12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E8E8E8"/>
                </a:solidFill>
                <a:latin typeface="Arial MT"/>
                <a:cs typeface="Arial MT"/>
              </a:rPr>
              <a:t>ión</a:t>
            </a:r>
            <a:r>
              <a:rPr dirty="0" sz="1550" spc="-14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E6E6E6"/>
                </a:solidFill>
                <a:latin typeface="Arial MT"/>
                <a:cs typeface="Arial MT"/>
              </a:rPr>
              <a:t>Pre</a:t>
            </a:r>
            <a:r>
              <a:rPr dirty="0" sz="1550" spc="-110">
                <a:solidFill>
                  <a:srgbClr val="E4E4E4"/>
                </a:solidFill>
                <a:latin typeface="Arial MT"/>
                <a:cs typeface="Arial MT"/>
              </a:rPr>
              <a:t>Se</a:t>
            </a:r>
            <a:r>
              <a:rPr dirty="0" sz="1550" spc="-110">
                <a:solidFill>
                  <a:srgbClr val="EDEDED"/>
                </a:solidFill>
                <a:latin typeface="Arial MT"/>
                <a:cs typeface="Arial MT"/>
              </a:rPr>
              <a:t>nc</a:t>
            </a:r>
            <a:r>
              <a:rPr dirty="0" sz="1550" spc="-24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D8D8D8"/>
                </a:solidFill>
                <a:latin typeface="Arial MT"/>
                <a:cs typeface="Arial MT"/>
              </a:rPr>
              <a:t>ial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46875" y="3034327"/>
            <a:ext cx="183324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5">
                <a:solidFill>
                  <a:srgbClr val="EBEBEB"/>
                </a:solidFill>
                <a:latin typeface="Arial MT"/>
                <a:cs typeface="Arial MT"/>
              </a:rPr>
              <a:t>Tornique</a:t>
            </a:r>
            <a:r>
              <a:rPr dirty="0" sz="1550" spc="-19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-140">
                <a:solidFill>
                  <a:srgbClr val="E6E6E6"/>
                </a:solidFill>
                <a:latin typeface="Arial MT"/>
                <a:cs typeface="Arial MT"/>
              </a:rPr>
              <a:t>te</a:t>
            </a:r>
            <a:r>
              <a:rPr dirty="0" sz="1550" spc="-140">
                <a:solidFill>
                  <a:srgbClr val="E2E2E2"/>
                </a:solidFill>
                <a:latin typeface="Arial MT"/>
                <a:cs typeface="Arial MT"/>
              </a:rPr>
              <a:t>S</a:t>
            </a:r>
            <a:r>
              <a:rPr dirty="0" sz="1550" spc="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7F7F7"/>
                </a:solidFill>
                <a:latin typeface="Arial MT"/>
                <a:cs typeface="Arial MT"/>
              </a:rPr>
              <a:t>NFC/RFID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26221" y="2770789"/>
            <a:ext cx="7212965" cy="5810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dirty="0" sz="16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Arquitectura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dirty="0" sz="16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165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Costo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40</a:t>
            </a:r>
            <a:endParaRPr sz="16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400"/>
              </a:spcBef>
            </a:pPr>
            <a:r>
              <a:rPr dirty="0" sz="1250" spc="50">
                <a:solidFill>
                  <a:srgbClr val="DFDFDF"/>
                </a:solidFill>
                <a:latin typeface="Arial MT"/>
                <a:cs typeface="Arial MT"/>
              </a:rPr>
              <a:t>Stack</a:t>
            </a:r>
            <a:r>
              <a:rPr dirty="0" sz="1250" spc="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FDFDF"/>
                </a:solidFill>
                <a:latin typeface="Arial MT"/>
                <a:cs typeface="Arial MT"/>
              </a:rPr>
              <a:t>Server</a:t>
            </a:r>
            <a:r>
              <a:rPr dirty="0" sz="1250" spc="-1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DBDBDB"/>
                </a:solidFill>
                <a:latin typeface="Arial MT"/>
                <a:cs typeface="Arial MT"/>
              </a:rPr>
              <a:t>less</a:t>
            </a:r>
            <a:r>
              <a:rPr dirty="0" sz="1250" spc="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FEFEF"/>
                </a:solidFill>
                <a:latin typeface="Arial MT"/>
                <a:cs typeface="Arial MT"/>
              </a:rPr>
              <a:t>escalable</a:t>
            </a:r>
            <a:r>
              <a:rPr dirty="0" sz="1250" spc="3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8D8D8"/>
                </a:solidFill>
                <a:latin typeface="Arial MT"/>
                <a:cs typeface="Arial MT"/>
              </a:rPr>
              <a:t>con</a:t>
            </a:r>
            <a:r>
              <a:rPr dirty="0" sz="1250" spc="1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BDBDB"/>
                </a:solidFill>
                <a:latin typeface="Arial MT"/>
                <a:cs typeface="Arial MT"/>
              </a:rPr>
              <a:t>Next.</a:t>
            </a:r>
            <a:r>
              <a:rPr dirty="0" sz="1250" spc="3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BDBDB"/>
                </a:solidFill>
                <a:latin typeface="Arial MT"/>
                <a:cs typeface="Arial MT"/>
              </a:rPr>
              <a:t>s</a:t>
            </a:r>
            <a:r>
              <a:rPr dirty="0" sz="1250" spc="-20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 spc="-40">
                <a:solidFill>
                  <a:srgbClr val="DADADA"/>
                </a:solidFill>
                <a:latin typeface="Arial MT"/>
                <a:cs typeface="Arial MT"/>
              </a:rPr>
              <a:t>15 </a:t>
            </a:r>
            <a:r>
              <a:rPr dirty="0" sz="1250">
                <a:solidFill>
                  <a:srgbClr val="D4D4D4"/>
                </a:solidFill>
                <a:latin typeface="Arial MT"/>
                <a:cs typeface="Arial MT"/>
              </a:rPr>
              <a:t>y</a:t>
            </a:r>
            <a:r>
              <a:rPr dirty="0" sz="1250" spc="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250" spc="60">
                <a:solidFill>
                  <a:srgbClr val="DBDBDB"/>
                </a:solidFill>
                <a:latin typeface="Arial MT"/>
                <a:cs typeface="Arial MT"/>
              </a:rPr>
              <a:t>Neon</a:t>
            </a:r>
            <a:r>
              <a:rPr dirty="0" sz="1250" spc="-2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 spc="65">
                <a:solidFill>
                  <a:srgbClr val="DFDFDF"/>
                </a:solidFill>
                <a:latin typeface="Arial MT"/>
                <a:cs typeface="Arial MT"/>
              </a:rPr>
              <a:t>Postg</a:t>
            </a:r>
            <a:r>
              <a:rPr dirty="0" sz="1250" spc="-1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 spc="75">
                <a:solidFill>
                  <a:srgbClr val="DFDFDF"/>
                </a:solidFill>
                <a:latin typeface="Arial MT"/>
                <a:cs typeface="Arial MT"/>
              </a:rPr>
              <a:t>res</a:t>
            </a:r>
            <a:r>
              <a:rPr dirty="0" sz="1250" spc="-17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2E2E2"/>
                </a:solidFill>
                <a:latin typeface="Arial MT"/>
                <a:cs typeface="Arial MT"/>
              </a:rPr>
              <a:t>QL</a:t>
            </a:r>
            <a:r>
              <a:rPr dirty="0" sz="1250" spc="9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E2E2E2"/>
                </a:solidFill>
                <a:latin typeface="Arial MT"/>
                <a:cs typeface="Arial MT"/>
              </a:rPr>
              <a:t>sin</a:t>
            </a:r>
            <a:r>
              <a:rPr dirty="0" sz="1250" spc="-4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250" spc="80">
                <a:solidFill>
                  <a:srgbClr val="D8D8D8"/>
                </a:solidFill>
                <a:latin typeface="Arial MT"/>
                <a:cs typeface="Arial MT"/>
              </a:rPr>
              <a:t>costos</a:t>
            </a:r>
            <a:r>
              <a:rPr dirty="0" sz="1250" spc="2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250" spc="85">
                <a:solidFill>
                  <a:srgbClr val="DFDFDF"/>
                </a:solidFill>
                <a:latin typeface="Arial MT"/>
                <a:cs typeface="Arial MT"/>
              </a:rPr>
              <a:t>de</a:t>
            </a:r>
            <a:r>
              <a:rPr dirty="0" sz="1250" spc="-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DBDBDB"/>
                </a:solidFill>
                <a:latin typeface="Arial MT"/>
                <a:cs typeface="Arial MT"/>
              </a:rPr>
              <a:t>inf</a:t>
            </a:r>
            <a:r>
              <a:rPr dirty="0" sz="1250" spc="-1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E6E6E6"/>
                </a:solidFill>
                <a:latin typeface="Arial MT"/>
                <a:cs typeface="Arial MT"/>
              </a:rPr>
              <a:t>raest</a:t>
            </a:r>
            <a:r>
              <a:rPr dirty="0" sz="1250" spc="-18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E6E6E6"/>
                </a:solidFill>
                <a:latin typeface="Arial MT"/>
                <a:cs typeface="Arial MT"/>
              </a:rPr>
              <a:t>ructura</a:t>
            </a:r>
            <a:r>
              <a:rPr dirty="0" sz="1250" spc="13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D6D6D6"/>
                </a:solidFill>
                <a:latin typeface="Arial MT"/>
                <a:cs typeface="Arial MT"/>
              </a:rPr>
              <a:t>fi</a:t>
            </a:r>
            <a:r>
              <a:rPr dirty="0" sz="1250" spc="-5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D6D6D6"/>
                </a:solidFill>
                <a:latin typeface="Arial MT"/>
                <a:cs typeface="Arial MT"/>
              </a:rPr>
              <a:t>a.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06" y="3675280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F21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05980" y="3599755"/>
            <a:ext cx="16497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Coo</a:t>
            </a:r>
            <a:r>
              <a:rPr dirty="0" sz="1550" spc="-43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215">
                <a:solidFill>
                  <a:srgbClr val="FFFFFF"/>
                </a:solidFill>
                <a:latin typeface="Courier New"/>
                <a:cs typeface="Courier New"/>
              </a:rPr>
              <a:t>d‹nac‹ónA</a:t>
            </a:r>
            <a:r>
              <a:rPr dirty="0" sz="1550" spc="-2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5">
                <a:solidFill>
                  <a:srgbClr val="FFFFFF"/>
                </a:solidFill>
                <a:latin typeface="Courier New"/>
                <a:cs typeface="Courier New"/>
              </a:rPr>
              <a:t>eas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2034" y="3599755"/>
            <a:ext cx="171703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10">
                <a:solidFill>
                  <a:srgbClr val="F7F7F7"/>
                </a:solidFill>
                <a:latin typeface="Arial MT"/>
                <a:cs typeface="Arial MT"/>
              </a:rPr>
              <a:t>PuSh</a:t>
            </a:r>
            <a:r>
              <a:rPr dirty="0" sz="1550" spc="-114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dirty="0" sz="1550" spc="-110">
                <a:solidFill>
                  <a:srgbClr val="F7F7F7"/>
                </a:solidFill>
                <a:latin typeface="Arial MT"/>
                <a:cs typeface="Arial MT"/>
              </a:rPr>
              <a:t>&amp;</a:t>
            </a:r>
            <a:r>
              <a:rPr dirty="0" sz="1550" spc="-55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dirty="0" sz="1550" spc="-235">
                <a:solidFill>
                  <a:srgbClr val="E4E4E4"/>
                </a:solidFill>
                <a:latin typeface="Arial MT"/>
                <a:cs typeface="Arial MT"/>
              </a:rPr>
              <a:t>SMS</a:t>
            </a:r>
            <a:r>
              <a:rPr dirty="0" sz="1550" spc="-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F7F7F7"/>
                </a:solidFill>
                <a:latin typeface="Arial MT"/>
                <a:cs typeface="Arial MT"/>
              </a:rPr>
              <a:t>Gateway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97940" y="3771870"/>
            <a:ext cx="26371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r>
              <a:rPr dirty="0" sz="1650" spc="-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30">
                <a:solidFill>
                  <a:srgbClr val="FFFFFF"/>
                </a:solidFill>
                <a:latin typeface="Arial MT"/>
                <a:cs typeface="Arial MT"/>
              </a:rPr>
              <a:t>Cumplimiento</a:t>
            </a:r>
            <a:r>
              <a:rPr dirty="0" sz="16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100% </a:t>
            </a:r>
            <a:r>
              <a:rPr dirty="0" sz="1650" spc="-110">
                <a:solidFill>
                  <a:srgbClr val="FFFFFF"/>
                </a:solidFill>
                <a:latin typeface="Arial MT"/>
                <a:cs typeface="Arial MT"/>
              </a:rPr>
              <a:t>Fase</a:t>
            </a:r>
            <a:r>
              <a:rPr dirty="0" sz="165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06" y="4115058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F21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706641" y="4055893"/>
            <a:ext cx="642302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75">
                <a:solidFill>
                  <a:srgbClr val="DFDFDF"/>
                </a:solidFill>
                <a:latin typeface="Arial MT"/>
                <a:cs typeface="Arial MT"/>
              </a:rPr>
              <a:t>SRS</a:t>
            </a:r>
            <a:r>
              <a:rPr dirty="0" sz="1400" spc="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E4E4E4"/>
                </a:solidFill>
                <a:latin typeface="Arial MT"/>
                <a:cs typeface="Arial MT"/>
              </a:rPr>
              <a:t>ba</a:t>
            </a:r>
            <a:r>
              <a:rPr dirty="0" sz="1400" spc="-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E4E4E4"/>
                </a:solidFill>
                <a:latin typeface="Arial MT"/>
                <a:cs typeface="Arial MT"/>
              </a:rPr>
              <a:t>o</a:t>
            </a:r>
            <a:r>
              <a:rPr dirty="0" sz="1400" spc="-1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400" spc="-170">
                <a:solidFill>
                  <a:srgbClr val="D8D8D8"/>
                </a:solidFill>
                <a:latin typeface="Arial MT"/>
                <a:cs typeface="Arial MT"/>
              </a:rPr>
              <a:t>IEEE</a:t>
            </a:r>
            <a:r>
              <a:rPr dirty="0" sz="1400" spc="-3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DDDDDD"/>
                </a:solidFill>
                <a:latin typeface="Arial MT"/>
                <a:cs typeface="Arial MT"/>
              </a:rPr>
              <a:t>830.</a:t>
            </a:r>
            <a:r>
              <a:rPr dirty="0" sz="1400" spc="-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DFDFDF"/>
                </a:solidFill>
                <a:latin typeface="Arial MT"/>
                <a:cs typeface="Arial MT"/>
              </a:rPr>
              <a:t>segur</a:t>
            </a:r>
            <a:r>
              <a:rPr dirty="0" sz="1400" spc="-2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DFDFDF"/>
                </a:solidFill>
                <a:latin typeface="Arial MT"/>
                <a:cs typeface="Arial MT"/>
              </a:rPr>
              <a:t>Idad</a:t>
            </a:r>
            <a:r>
              <a:rPr dirty="0" sz="1400" spc="-7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400" spc="-100">
                <a:solidFill>
                  <a:srgbClr val="E8E8E8"/>
                </a:solidFill>
                <a:latin typeface="Arial MT"/>
                <a:cs typeface="Arial MT"/>
              </a:rPr>
              <a:t>OWASP</a:t>
            </a:r>
            <a:r>
              <a:rPr dirty="0" sz="1400" spc="14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0576B"/>
                </a:solidFill>
                <a:latin typeface="Arial MT"/>
                <a:cs typeface="Arial MT"/>
              </a:rPr>
              <a:t>/</a:t>
            </a:r>
            <a:r>
              <a:rPr dirty="0" sz="1400" spc="75">
                <a:solidFill>
                  <a:srgbClr val="50576B"/>
                </a:solidFill>
                <a:latin typeface="Arial MT"/>
                <a:cs typeface="Arial MT"/>
              </a:rPr>
              <a:t> </a:t>
            </a:r>
            <a:r>
              <a:rPr dirty="0" sz="1400" spc="-40">
                <a:solidFill>
                  <a:srgbClr val="D8D8D8"/>
                </a:solidFill>
                <a:latin typeface="Arial MT"/>
                <a:cs typeface="Arial MT"/>
              </a:rPr>
              <a:t>ISO</a:t>
            </a:r>
            <a:r>
              <a:rPr dirty="0" sz="1400" spc="-7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9CA7B8"/>
                </a:solidFill>
                <a:latin typeface="Arial MT"/>
                <a:cs typeface="Arial MT"/>
              </a:rPr>
              <a:t>27</a:t>
            </a:r>
            <a:r>
              <a:rPr dirty="0" sz="1400" spc="-210">
                <a:solidFill>
                  <a:srgbClr val="9CA7B8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676287"/>
                </a:solidFill>
                <a:latin typeface="Arial MT"/>
                <a:cs typeface="Arial MT"/>
              </a:rPr>
              <a:t>0</a:t>
            </a:r>
            <a:r>
              <a:rPr dirty="0" sz="1400" spc="50">
                <a:solidFill>
                  <a:srgbClr val="CACACA"/>
                </a:solidFill>
                <a:latin typeface="Arial MT"/>
                <a:cs typeface="Arial MT"/>
              </a:rPr>
              <a:t>01</a:t>
            </a:r>
            <a:r>
              <a:rPr dirty="0" sz="1400" spc="-195">
                <a:solidFill>
                  <a:srgbClr val="CACACA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909CB5"/>
                </a:solidFill>
                <a:latin typeface="Arial MT"/>
                <a:cs typeface="Arial MT"/>
              </a:rPr>
              <a:t>y</a:t>
            </a:r>
            <a:r>
              <a:rPr dirty="0" sz="1400" spc="-55">
                <a:solidFill>
                  <a:srgbClr val="909CB5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2E2E2"/>
                </a:solidFill>
                <a:latin typeface="Arial MT"/>
                <a:cs typeface="Arial MT"/>
              </a:rPr>
              <a:t>código</a:t>
            </a:r>
            <a:r>
              <a:rPr dirty="0" sz="1400" spc="2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DFDFDF"/>
                </a:solidFill>
                <a:latin typeface="Arial MT"/>
                <a:cs typeface="Arial MT"/>
              </a:rPr>
              <a:t>verslonado</a:t>
            </a:r>
            <a:r>
              <a:rPr dirty="0" sz="1400" spc="6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DADADA"/>
                </a:solidFill>
                <a:latin typeface="Arial MT"/>
                <a:cs typeface="Arial MT"/>
              </a:rPr>
              <a:t>en</a:t>
            </a:r>
            <a:r>
              <a:rPr dirty="0" sz="1400" spc="-7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DDDDDD"/>
                </a:solidFill>
                <a:latin typeface="Arial MT"/>
                <a:cs typeface="Arial MT"/>
              </a:rPr>
              <a:t>GltHu</a:t>
            </a:r>
            <a:r>
              <a:rPr dirty="0" sz="1400" spc="-10">
                <a:solidFill>
                  <a:srgbClr val="EFEFEF"/>
                </a:solidFill>
                <a:latin typeface="Arial MT"/>
                <a:cs typeface="Arial MT"/>
              </a:rPr>
              <a:t>b.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3744" y="4181543"/>
            <a:ext cx="138557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40">
                <a:solidFill>
                  <a:srgbClr val="F9F9F9"/>
                </a:solidFill>
                <a:latin typeface="Arial MT"/>
                <a:cs typeface="Arial MT"/>
              </a:rPr>
              <a:t>HoraS</a:t>
            </a:r>
            <a:r>
              <a:rPr dirty="0" sz="1400" spc="-5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7F7F7"/>
                </a:solidFill>
                <a:latin typeface="Arial MT"/>
                <a:cs typeface="Arial MT"/>
              </a:rPr>
              <a:t>SoDorte</a:t>
            </a:r>
            <a:r>
              <a:rPr dirty="0" sz="1400" spc="-95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TI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0365" y="4181543"/>
            <a:ext cx="169037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>
                <a:solidFill>
                  <a:srgbClr val="E9E9E9"/>
                </a:solidFill>
                <a:latin typeface="Arial MT"/>
                <a:cs typeface="Arial MT"/>
              </a:rPr>
              <a:t>CoSteo</a:t>
            </a:r>
            <a:r>
              <a:rPr dirty="0" sz="1400" spc="6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solidFill>
                  <a:srgbClr val="E4E4E4"/>
                </a:solidFill>
                <a:latin typeface="Arial MT"/>
                <a:cs typeface="Arial MT"/>
              </a:rPr>
              <a:t>Fi</a:t>
            </a:r>
            <a:r>
              <a:rPr dirty="0" sz="1400" spc="-1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400" spc="-45">
                <a:solidFill>
                  <a:srgbClr val="EBEBEB"/>
                </a:solidFill>
                <a:latin typeface="Arial MT"/>
                <a:cs typeface="Arial MT"/>
              </a:rPr>
              <a:t>nanc</a:t>
            </a:r>
            <a:r>
              <a:rPr dirty="0" sz="1400" spc="-12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9E9E9"/>
                </a:solidFill>
                <a:latin typeface="Arial MT"/>
                <a:cs typeface="Arial MT"/>
              </a:rPr>
              <a:t>iero</a:t>
            </a:r>
            <a:r>
              <a:rPr dirty="0" sz="1400" spc="9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EBEBEB"/>
                </a:solidFill>
                <a:latin typeface="Arial MT"/>
                <a:cs typeface="Arial MT"/>
              </a:rPr>
              <a:t>$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706" y="4806136"/>
            <a:ext cx="20080605" cy="196850"/>
            <a:chOff x="15706" y="4806136"/>
            <a:chExt cx="20080605" cy="19685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252" y="4821842"/>
              <a:ext cx="1083736" cy="13350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5706" y="4806136"/>
              <a:ext cx="20080605" cy="196850"/>
            </a:xfrm>
            <a:custGeom>
              <a:avLst/>
              <a:gdLst/>
              <a:ahLst/>
              <a:cxnLst/>
              <a:rect l="l" t="t" r="r" b="b"/>
              <a:pathLst>
                <a:path w="20080605" h="196850">
                  <a:moveTo>
                    <a:pt x="20080541" y="196329"/>
                  </a:moveTo>
                  <a:lnTo>
                    <a:pt x="0" y="196329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96329"/>
                  </a:lnTo>
                  <a:close/>
                </a:path>
              </a:pathLst>
            </a:custGeom>
            <a:solidFill>
              <a:srgbClr val="1123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99845" y="4730611"/>
            <a:ext cx="18954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EDEDED"/>
                </a:solidFill>
                <a:latin typeface="Arial MT"/>
                <a:cs typeface="Arial MT"/>
              </a:rPr>
              <a:t>Integrac</a:t>
            </a:r>
            <a:r>
              <a:rPr dirty="0" sz="1550" spc="-22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E8E8E8"/>
                </a:solidFill>
                <a:latin typeface="Arial MT"/>
                <a:cs typeface="Arial MT"/>
              </a:rPr>
              <a:t>ión</a:t>
            </a:r>
            <a:r>
              <a:rPr dirty="0" sz="1550" spc="-9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E8E8E8"/>
                </a:solidFill>
                <a:latin typeface="Arial MT"/>
                <a:cs typeface="Arial MT"/>
              </a:rPr>
              <a:t>C</a:t>
            </a:r>
            <a:r>
              <a:rPr dirty="0" sz="1550" spc="-45">
                <a:solidFill>
                  <a:srgbClr val="FFFFFF"/>
                </a:solidFill>
                <a:latin typeface="Arial MT"/>
                <a:cs typeface="Arial MT"/>
              </a:rPr>
              <a:t>alendario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47970" y="4714250"/>
            <a:ext cx="19132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20">
                <a:solidFill>
                  <a:srgbClr val="EDEDED"/>
                </a:solidFill>
                <a:latin typeface="Courier New"/>
                <a:cs typeface="Courier New"/>
              </a:rPr>
              <a:t>SyncGoogIe/Oulook</a:t>
            </a:r>
            <a:endParaRPr sz="165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706" y="5355857"/>
            <a:ext cx="20080605" cy="180975"/>
            <a:chOff x="15706" y="5355857"/>
            <a:chExt cx="20080605" cy="18097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0252" y="5371564"/>
              <a:ext cx="1390010" cy="14921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5706" y="5355857"/>
              <a:ext cx="20080605" cy="180975"/>
            </a:xfrm>
            <a:custGeom>
              <a:avLst/>
              <a:gdLst/>
              <a:ahLst/>
              <a:cxnLst/>
              <a:rect l="l" t="t" r="r" b="b"/>
              <a:pathLst>
                <a:path w="20080605" h="180975">
                  <a:moveTo>
                    <a:pt x="20080541" y="180622"/>
                  </a:moveTo>
                  <a:lnTo>
                    <a:pt x="0" y="180622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80622"/>
                  </a:lnTo>
                  <a:close/>
                </a:path>
              </a:pathLst>
            </a:custGeom>
            <a:solidFill>
              <a:srgbClr val="0F23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103007" y="5296038"/>
            <a:ext cx="17576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F9F9F9"/>
                </a:solidFill>
                <a:latin typeface="Arial MT"/>
                <a:cs typeface="Arial MT"/>
              </a:rPr>
              <a:t>Domótic</a:t>
            </a:r>
            <a:r>
              <a:rPr dirty="0" sz="1550" spc="-18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1550" spc="-170">
                <a:solidFill>
                  <a:srgbClr val="DFDFDF"/>
                </a:solidFill>
                <a:latin typeface="Arial MT"/>
                <a:cs typeface="Arial MT"/>
              </a:rPr>
              <a:t>a</a:t>
            </a:r>
            <a:r>
              <a:rPr dirty="0" sz="1550" spc="-1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778393"/>
                </a:solidFill>
                <a:latin typeface="Arial MT"/>
                <a:cs typeface="Arial MT"/>
              </a:rPr>
              <a:t>/</a:t>
            </a:r>
            <a:r>
              <a:rPr dirty="0" sz="1550" spc="75">
                <a:solidFill>
                  <a:srgbClr val="778393"/>
                </a:solidFill>
                <a:latin typeface="Arial MT"/>
                <a:cs typeface="Arial MT"/>
              </a:rPr>
              <a:t> </a:t>
            </a:r>
            <a:r>
              <a:rPr dirty="0" sz="1550" spc="-70">
                <a:solidFill>
                  <a:srgbClr val="F6F6F6"/>
                </a:solidFill>
                <a:latin typeface="Arial MT"/>
                <a:cs typeface="Arial MT"/>
              </a:rPr>
              <a:t>Hardware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50510" y="5296038"/>
            <a:ext cx="201104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70">
                <a:solidFill>
                  <a:srgbClr val="E8E8E8"/>
                </a:solidFill>
                <a:latin typeface="Consolas"/>
                <a:cs typeface="Consolas"/>
              </a:rPr>
              <a:t>Convol</a:t>
            </a:r>
            <a:r>
              <a:rPr dirty="0" sz="1550" spc="-459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1550" spc="-40">
                <a:solidFill>
                  <a:srgbClr val="E9E9E9"/>
                </a:solidFill>
                <a:latin typeface="Consolas"/>
                <a:cs typeface="Consolas"/>
              </a:rPr>
              <a:t>Luces/CkmatoT</a:t>
            </a:r>
            <a:endParaRPr sz="1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2026-09-22T14:02:19Z</dcterms:created>
  <dcterms:modified xsi:type="dcterms:W3CDTF">2026-09-22T14:02:19Z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2026-09-01T00:00:00Z</vt:filetime>
  </property>
  <property fmtid="{D5CDD505-2E9C-101B-9397-08002B2CF9AE}" pid="4" name="LastSaved">
    <vt:filetime>2026-09-22T00:00:00Z</vt:filetime>
  </property>
</Properties>
</file>